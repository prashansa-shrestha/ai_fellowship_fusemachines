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f023f031884499" /><Relationship Type="http://schemas.openxmlformats.org/officeDocument/2006/relationships/extended-properties" Target="/docProps/app.xml" Id="Rcb182e6d696840b3" /><Relationship Type="http://schemas.openxmlformats.org/officeDocument/2006/relationships/officeDocument" Target="/ppt/presentation.xml" Id="R75ebd550b9a746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bf71bdbc9e4854"/>
  </p:sldMasterIdLst>
  <p:notesMasterIdLst>
    <p:notesMasterId xmlns:r="http://schemas.openxmlformats.org/officeDocument/2006/relationships" r:id="R3535b99fe5ae4faf"/>
  </p:notesMasterIdLst>
  <p:sldIdLst>
    <p:sldId xmlns:r="http://schemas.openxmlformats.org/officeDocument/2006/relationships" id="256" r:id="R5a2fda0600784602"/>
    <p:sldId xmlns:r="http://schemas.openxmlformats.org/officeDocument/2006/relationships" id="257" r:id="R621b418ebbaf4b3b"/>
    <p:sldId xmlns:r="http://schemas.openxmlformats.org/officeDocument/2006/relationships" id="258" r:id="R18651b3f1ff748b1"/>
    <p:sldId xmlns:r="http://schemas.openxmlformats.org/officeDocument/2006/relationships" id="259" r:id="Rfb2789d7f7664cc7"/>
    <p:sldId xmlns:r="http://schemas.openxmlformats.org/officeDocument/2006/relationships" id="260" r:id="R810f708d9efa440b"/>
    <p:sldId xmlns:r="http://schemas.openxmlformats.org/officeDocument/2006/relationships" id="261" r:id="R650dc9dcd9c0460a"/>
    <p:sldId xmlns:r="http://schemas.openxmlformats.org/officeDocument/2006/relationships" id="262" r:id="Rc690fca26a46478a"/>
    <p:sldId xmlns:r="http://schemas.openxmlformats.org/officeDocument/2006/relationships" id="263" r:id="R918db444d34247dd"/>
    <p:sldId xmlns:r="http://schemas.openxmlformats.org/officeDocument/2006/relationships" id="264" r:id="R9234f6d8dca74492"/>
    <p:sldId xmlns:r="http://schemas.openxmlformats.org/officeDocument/2006/relationships" id="265" r:id="R4be457e44d56407f"/>
    <p:sldId xmlns:r="http://schemas.openxmlformats.org/officeDocument/2006/relationships" id="266" r:id="Rf0298eb198824309"/>
    <p:sldId xmlns:r="http://schemas.openxmlformats.org/officeDocument/2006/relationships" id="267" r:id="R28bcc8454e5e43fc"/>
    <p:sldId xmlns:r="http://schemas.openxmlformats.org/officeDocument/2006/relationships" id="268" r:id="R06a0087ae57242c5"/>
    <p:sldId xmlns:r="http://schemas.openxmlformats.org/officeDocument/2006/relationships" id="269" r:id="Ra3b1d17a0cce4ba2"/>
    <p:sldId xmlns:r="http://schemas.openxmlformats.org/officeDocument/2006/relationships" id="270" r:id="R9d9cd87dc3814f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a41c0e75b54745" /><Relationship Type="http://schemas.openxmlformats.org/officeDocument/2006/relationships/slideMaster" Target="/ppt/slideMasters/slideMaster1.xml" Id="R8abf71bdbc9e4854" /><Relationship Type="http://schemas.openxmlformats.org/officeDocument/2006/relationships/notesMaster" Target="/ppt/notesMasters/notesMaster1.xml" Id="R3535b99fe5ae4faf" /><Relationship Type="http://schemas.openxmlformats.org/officeDocument/2006/relationships/presProps" Target="/ppt/presProps.xml" Id="R63204410e12d4f38" /><Relationship Type="http://schemas.openxmlformats.org/officeDocument/2006/relationships/tableStyles" Target="/ppt/tableStyles.xml" Id="R29475d086a8b4957" /><Relationship Type="http://schemas.openxmlformats.org/officeDocument/2006/relationships/slide" Target="/ppt/slides/slide1.xml" Id="R5a2fda0600784602" /><Relationship Type="http://schemas.openxmlformats.org/officeDocument/2006/relationships/slide" Target="/ppt/slides/slide2.xml" Id="R621b418ebbaf4b3b" /><Relationship Type="http://schemas.openxmlformats.org/officeDocument/2006/relationships/slide" Target="/ppt/slides/slide3.xml" Id="R18651b3f1ff748b1" /><Relationship Type="http://schemas.openxmlformats.org/officeDocument/2006/relationships/slide" Target="/ppt/slides/slide4.xml" Id="Rfb2789d7f7664cc7" /><Relationship Type="http://schemas.openxmlformats.org/officeDocument/2006/relationships/slide" Target="/ppt/slides/slide5.xml" Id="R810f708d9efa440b" /><Relationship Type="http://schemas.openxmlformats.org/officeDocument/2006/relationships/slide" Target="/ppt/slides/slide6.xml" Id="R650dc9dcd9c0460a" /><Relationship Type="http://schemas.openxmlformats.org/officeDocument/2006/relationships/slide" Target="/ppt/slides/slide7.xml" Id="Rc690fca26a46478a" /><Relationship Type="http://schemas.openxmlformats.org/officeDocument/2006/relationships/slide" Target="/ppt/slides/slide8.xml" Id="R918db444d34247dd" /><Relationship Type="http://schemas.openxmlformats.org/officeDocument/2006/relationships/slide" Target="/ppt/slides/slide9.xml" Id="R9234f6d8dca74492" /><Relationship Type="http://schemas.openxmlformats.org/officeDocument/2006/relationships/slide" Target="/ppt/slides/slide10.xml" Id="R4be457e44d56407f" /><Relationship Type="http://schemas.openxmlformats.org/officeDocument/2006/relationships/slide" Target="/ppt/slides/slide11.xml" Id="Rf0298eb198824309" /><Relationship Type="http://schemas.openxmlformats.org/officeDocument/2006/relationships/slide" Target="/ppt/slides/slide12.xml" Id="R28bcc8454e5e43fc" /><Relationship Type="http://schemas.openxmlformats.org/officeDocument/2006/relationships/slide" Target="/ppt/slides/slide13.xml" Id="R06a0087ae57242c5" /><Relationship Type="http://schemas.openxmlformats.org/officeDocument/2006/relationships/slide" Target="/ppt/slides/slide14.xml" Id="Ra3b1d17a0cce4ba2" /><Relationship Type="http://schemas.openxmlformats.org/officeDocument/2006/relationships/slide" Target="/ppt/slides/slide15.xml" Id="R9d9cd87dc3814f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e83eb6f04f4a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186e35689943a7" /><Relationship Type="http://schemas.openxmlformats.org/officeDocument/2006/relationships/notesMaster" Target="/ppt/notesMasters/notesMaster1.xml" Id="R579dc7a8f53149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dc609e4e034a11" /><Relationship Type="http://schemas.openxmlformats.org/officeDocument/2006/relationships/notesMaster" Target="/ppt/notesMasters/notesMaster1.xml" Id="R2774d4a260a945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833baf07db4445" /><Relationship Type="http://schemas.openxmlformats.org/officeDocument/2006/relationships/notesMaster" Target="/ppt/notesMasters/notesMaster1.xml" Id="Rb14375e1029549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7949cf75fc488b" /><Relationship Type="http://schemas.openxmlformats.org/officeDocument/2006/relationships/notesMaster" Target="/ppt/notesMasters/notesMaster1.xml" Id="R2494c6e2ea5c40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5016b2399f42f6" /><Relationship Type="http://schemas.openxmlformats.org/officeDocument/2006/relationships/notesMaster" Target="/ppt/notesMasters/notesMaster1.xml" Id="Rb4a74fc8fb9f40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783659c1ca466f" /><Relationship Type="http://schemas.openxmlformats.org/officeDocument/2006/relationships/notesMaster" Target="/ppt/notesMasters/notesMaster1.xml" Id="Rab985c9429a54d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31266e9dbe4269" /><Relationship Type="http://schemas.openxmlformats.org/officeDocument/2006/relationships/notesMaster" Target="/ppt/notesMasters/notesMaster1.xml" Id="R751a6418a33f40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7da802d6c54a1d" /><Relationship Type="http://schemas.openxmlformats.org/officeDocument/2006/relationships/notesMaster" Target="/ppt/notesMasters/notesMaster1.xml" Id="R086541b86d4d4c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8b7c86eb074846" /><Relationship Type="http://schemas.openxmlformats.org/officeDocument/2006/relationships/notesMaster" Target="/ppt/notesMasters/notesMaster1.xml" Id="R029610b92a3043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6d3417bcb740d0" /><Relationship Type="http://schemas.openxmlformats.org/officeDocument/2006/relationships/notesMaster" Target="/ppt/notesMasters/notesMaster1.xml" Id="R92c42b2bbdab4f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8d7064a1ea4af7" /><Relationship Type="http://schemas.openxmlformats.org/officeDocument/2006/relationships/notesMaster" Target="/ppt/notesMasters/notesMaster1.xml" Id="R73778c0b00584b1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17b2f168ea64821" /><Relationship Type="http://schemas.openxmlformats.org/officeDocument/2006/relationships/notesMaster" Target="/ppt/notesMasters/notesMaster1.xml" Id="R55bdec5124314e6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92dd62514a54f1c" /><Relationship Type="http://schemas.openxmlformats.org/officeDocument/2006/relationships/notesMaster" Target="/ppt/notesMasters/notesMaster1.xml" Id="R88e54af0abda4be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d39336f95f347ed" /><Relationship Type="http://schemas.openxmlformats.org/officeDocument/2006/relationships/notesMaster" Target="/ppt/notesMasters/notesMaster1.xml" Id="R94023f916c754b6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ed02967e59f4230" /><Relationship Type="http://schemas.openxmlformats.org/officeDocument/2006/relationships/notesMaster" Target="/ppt/notesMasters/notesMaster1.xml" Id="Rff72aff206b84d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Introduce Trustilo as an evidence-management and controlled-decision pipeline for security questionnaires.</a:t>
            </a:r>
          </a:p>
          <a:p xmlns:a="http://schemas.openxmlformats.org/drawingml/2006/main">
            <a:r>
              <a:t>• State that the proposal focuses on faster preparation without weakening citation traceability or human oversight.</a:t>
            </a:r>
          </a:p>
          <a:p xmlns:a="http://schemas.openxmlformats.org/drawingml/2006/main">
            <a:r>
              <a:t>• Keep this opening under 30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Local source: report/main.tex, Abstract and Section 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Explain the trade-off between manual accuracy and fast but unsafe generation.</a:t>
            </a:r>
          </a:p>
          <a:p xmlns:a="http://schemas.openxmlformats.org/drawingml/2006/main">
            <a:r>
              <a:t>• Use one example: a questionnaire asks about encryption, but the answer may depend on a specific current policy version.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Local source: report/main.tex, Section I.A–I.C</a:t>
            </a:r>
          </a:p>
          <a:p xmlns:a="http://schemas.openxmlformats.org/drawingml/2006/main">
            <a:r>
              <a:t>- Local source: specs/00-overview-and-mvp-scope.md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Connect each user to a measurable requirement.</a:t>
            </a:r>
          </a:p>
          <a:p xmlns:a="http://schemas.openxmlformats.org/drawingml/2006/main">
            <a:r>
              <a:t>• Emphasize that tenant isolation happens before retrieval, not as post-processing.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Local source: report/main.tex, Sections II.B–II.D</a:t>
            </a:r>
          </a:p>
          <a:p xmlns:a="http://schemas.openxmlformats.org/drawingml/2006/main">
            <a:r>
              <a:t>- Local source: AGENTS.md, Non-negotiables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Read the research question once, then define what the project will and will not attempt.</a:t>
            </a:r>
          </a:p>
          <a:p xmlns:a="http://schemas.openxmlformats.org/drawingml/2006/main">
            <a:r>
              <a:t>• Explain that the frozen scope makes the experiment feasible within 24 weeks.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Local source: report/main.tex, Section IV.A</a:t>
            </a:r>
          </a:p>
          <a:p xmlns:a="http://schemas.openxmlformats.org/drawingml/2006/main">
            <a:r>
              <a:t>- Local source: specs/00-overview-and-mvp-scope.md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Summarize the literature by design lesson instead of explaining all nine papers individually.</a:t>
            </a:r>
          </a:p>
          <a:p xmlns:a="http://schemas.openxmlformats.org/drawingml/2006/main">
            <a:r>
              <a:t>• Handoff to Presenter 2: the next slide identifies the gap these methods leave open.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Lewis et al. (2020), https://proceedings.neurips.cc/paper/2020/hash/6b493230-Abstract.html</a:t>
            </a:r>
          </a:p>
          <a:p xmlns:a="http://schemas.openxmlformats.org/drawingml/2006/main">
            <a:r>
              <a:t>- He et al. (2024), https://aclanthology.org/2024.findings-emnlp.607/</a:t>
            </a:r>
          </a:p>
          <a:p xmlns:a="http://schemas.openxmlformats.org/drawingml/2006/main">
            <a:r>
              <a:t>- Es et al. (2024), https://aclanthology.org/2024.eacl-demo.16/</a:t>
            </a:r>
          </a:p>
          <a:p xmlns:a="http://schemas.openxmlformats.org/drawingml/2006/main">
            <a:r>
              <a:t>- Saad-Falcon et al. (2024), https://aclanthology.org/2024.naacl-long.20/</a:t>
            </a:r>
          </a:p>
          <a:p xmlns:a="http://schemas.openxmlformats.org/drawingml/2006/main">
            <a:r>
              <a:t>- Dhuliawala et al. (2024), https://aclanthology.org/2024.findings-acl.212/</a:t>
            </a:r>
          </a:p>
          <a:p xmlns:a="http://schemas.openxmlformats.org/drawingml/2006/main">
            <a:r>
              <a:t>- Manakul et al. (2023), https://aclanthology.org/2023.emnlp-main.557/</a:t>
            </a:r>
          </a:p>
          <a:p xmlns:a="http://schemas.openxmlformats.org/drawingml/2006/main">
            <a:r>
              <a:t>- Parvez et al. (2023), https://aclanthology.org/2023.eacl-main.16/</a:t>
            </a:r>
          </a:p>
          <a:p xmlns:a="http://schemas.openxmlformats.org/drawingml/2006/main">
            <a:r>
              <a:t>- Sun et al. (2025), https://aclanthology.org/2025.coling-main.178/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Present the gap as an inference from the reviewed literature, not as a universal claim about every commercial product.</a:t>
            </a:r>
          </a:p>
          <a:p xmlns:a="http://schemas.openxmlformats.org/drawingml/2006/main">
            <a:r>
              <a:t>• The contribution is integration, evaluation, and control logic rather than a new foundation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Local source: report/main.tex, Sections IV.F–IV.I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Walk left to right through the per-question pipeline.</a:t>
            </a:r>
          </a:p>
          <a:p xmlns:a="http://schemas.openxmlformats.org/drawingml/2006/main">
            <a:r>
              <a:t>• The verifier can request one retrieval retry. The bounded loop controls latency and keeps failures attributable.</a:t>
            </a:r>
          </a:p>
          <a:p xmlns:a="http://schemas.openxmlformats.org/drawingml/2006/main">
            <a:r>
              <a:t>• Framework mapping remains outside the MVP pass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Local source: specs/01-architecture.md</a:t>
            </a:r>
          </a:p>
          <a:p xmlns:a="http://schemas.openxmlformats.org/drawingml/2006/main">
            <a:r>
              <a:t>- He et al. (2024), https://aclanthology.org/2024.findings-emnlp.607/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Explain why the architecture uses one deployable application rather than microservices.</a:t>
            </a:r>
          </a:p>
          <a:p xmlns:a="http://schemas.openxmlformats.org/drawingml/2006/main">
            <a:r>
              <a:t>• Dense and lexical retrieval share Postgres for a simpler MVP environment.</a:t>
            </a:r>
          </a:p>
          <a:p xmlns:a="http://schemas.openxmlformats.org/drawingml/2006/main">
            <a:r>
              <a:t>• The provider abstraction makes model choice an experiment configuration rather than a code rewrite.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Local source: specs/13-tech-stack-and-repo-layout.md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Describe the system as a sequence of gates, each with an explicit failure response.</a:t>
            </a:r>
          </a:p>
          <a:p xmlns:a="http://schemas.openxmlformats.org/drawingml/2006/main">
            <a:r>
              <a:t>• Clarify that an abstention is a safe output, not a model failure.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Local source: AGENTS.md, Non-negotiables</a:t>
            </a:r>
          </a:p>
          <a:p xmlns:a="http://schemas.openxmlformats.org/drawingml/2006/main">
            <a:r>
              <a:t>- Local source: specs/05-retrieval.md, specs/06-drafting.md, specs/07-verification.md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The orchestrator alone changes question state, which makes retries and reconstruction deterministic.</a:t>
            </a:r>
          </a:p>
          <a:p xmlns:a="http://schemas.openxmlformats.org/drawingml/2006/main">
            <a:r>
              <a:t>• Each stage receives and returns typed objects, so it can be tested or replaced independently.</a:t>
            </a:r>
          </a:p>
          <a:p xmlns:a="http://schemas.openxmlformats.org/drawingml/2006/main">
            <a:r>
              <a:t>• Handoff to Presenter 3: the next section explains how the proposal will prove whether this design works.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Local source: specs/01-architecture.md</a:t>
            </a:r>
          </a:p>
          <a:p xmlns:a="http://schemas.openxmlformats.org/drawingml/2006/main">
            <a:r>
              <a:t>- Local source: specs/02-data-model.md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Explain that the baselines isolate where value comes from: retrieval, verification, or the full routing design.</a:t>
            </a:r>
          </a:p>
          <a:p xmlns:a="http://schemas.openxmlformats.org/drawingml/2006/main">
            <a:r>
              <a:t>• Hard negatives prevent a system that answers everything from looking artificially strong.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Local source: specs/11-evaluation-and-baselines.md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State clearly that these are acceptance targets from the proposal, not completed results.</a:t>
            </a:r>
          </a:p>
          <a:p xmlns:a="http://schemas.openxmlformats.org/drawingml/2006/main">
            <a:r>
              <a:t>• The main outcome balances evidence faithfulness with reviewer workload. Reporting only accuracy would hide this trade-off.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Local source: specs/14-requirements-traceability.md</a:t>
            </a:r>
          </a:p>
          <a:p xmlns:a="http://schemas.openxmlformats.org/drawingml/2006/main">
            <a:r>
              <a:t>- Local source: specs/11-evaluation-and-baselines.md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Separate technical evidence from commercial assumptions. The proposal does not yet claim a market size or validated price.</a:t>
            </a:r>
          </a:p>
          <a:p xmlns:a="http://schemas.openxmlformats.org/drawingml/2006/main">
            <a:r>
              <a:t>• The business case succeeds when the system reduces review effort while meeting groundedness targets.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Local source: report/main.tex, Sections I.B–I.G and VI</a:t>
            </a:r>
          </a:p>
          <a:p xmlns:a="http://schemas.openxmlformats.org/drawingml/2006/main">
            <a:r>
              <a:t>- Local source: specs/11-evaluation-and-baselines.md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Explain the sequence as dependency-driven: evaluation comes after the complete controlled pipeline works.</a:t>
            </a:r>
          </a:p>
          <a:p xmlns:a="http://schemas.openxmlformats.org/drawingml/2006/main">
            <a:r>
              <a:t>• Keep post-MVP features out of this timeline.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Local source: report/main.tex, Section IX, Timeline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Close with the measurable definition of success.</a:t>
            </a:r>
          </a:p>
          <a:p xmlns:a="http://schemas.openxmlformats.org/drawingml/2006/main">
            <a:r>
              <a:t>• Avoid claiming that the targets have already been reached. The proposal commits to testing them.</a:t>
            </a:r>
          </a:p>
          <a:p xmlns:a="http://schemas.openxmlformats.org/drawingml/2006/main">
            <a:r>
              <a:t>• Invite questions on the research design, architecture, or business validation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Local source: report/main.tex, Sections X–XI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80b20d8e2445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09f3b4688c4375" /><Relationship Type="http://schemas.openxmlformats.org/officeDocument/2006/relationships/slideLayout" Target="/ppt/slideLayouts/slideLayout1.xml" Id="R1ee07e26420649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e07e26420649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b290237944462" /><Relationship Type="http://schemas.openxmlformats.org/officeDocument/2006/relationships/notesSlide" Target="/ppt/notesSlides/notesSlide1.xml" Id="R5a8cedee75ad42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91927b82441db" /><Relationship Type="http://schemas.openxmlformats.org/officeDocument/2006/relationships/notesSlide" Target="/ppt/notesSlides/notesSlide2.xml" Id="Raff29d40a28f41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b7cd1b1a74e80" /><Relationship Type="http://schemas.openxmlformats.org/officeDocument/2006/relationships/notesSlide" Target="/ppt/notesSlides/notesSlide3.xml" Id="R43b94426536b47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f2650a09142b2" /><Relationship Type="http://schemas.openxmlformats.org/officeDocument/2006/relationships/notesSlide" Target="/ppt/notesSlides/notesSlide4.xml" Id="R0947909eb21e4f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a8ffcc5bb447a" /><Relationship Type="http://schemas.openxmlformats.org/officeDocument/2006/relationships/notesSlide" Target="/ppt/notesSlides/notesSlide5.xml" Id="R03af8fb030cd4e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db36661eb4a3d" /><Relationship Type="http://schemas.openxmlformats.org/officeDocument/2006/relationships/notesSlide" Target="/ppt/notesSlides/notesSlide6.xml" Id="R53c56d3073634b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789822e894f3a" /><Relationship Type="http://schemas.openxmlformats.org/officeDocument/2006/relationships/notesSlide" Target="/ppt/notesSlides/notesSlide7.xml" Id="Rfe5426b6369443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57381a28745d3" /><Relationship Type="http://schemas.openxmlformats.org/officeDocument/2006/relationships/notesSlide" Target="/ppt/notesSlides/notesSlide8.xml" Id="Rabc1a14ec55f4e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51d34f1974305" /><Relationship Type="http://schemas.openxmlformats.org/officeDocument/2006/relationships/notesSlide" Target="/ppt/notesSlides/notesSlide9.xml" Id="Rfece3afd4a7342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1eb3bffea45fd" /><Relationship Type="http://schemas.openxmlformats.org/officeDocument/2006/relationships/notesSlide" Target="/ppt/notesSlides/notesSlide10.xml" Id="Rc95783d0202d4f1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3c271e752475d" /><Relationship Type="http://schemas.openxmlformats.org/officeDocument/2006/relationships/notesSlide" Target="/ppt/notesSlides/notesSlide11.xml" Id="Rab8cd4eeb96547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0d639303544a0" /><Relationship Type="http://schemas.openxmlformats.org/officeDocument/2006/relationships/notesSlide" Target="/ppt/notesSlides/notesSlide12.xml" Id="R817092374c9d4ef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59bded5b74049" /><Relationship Type="http://schemas.openxmlformats.org/officeDocument/2006/relationships/notesSlide" Target="/ppt/notesSlides/notesSlide13.xml" Id="R69ae96c9c3eb473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f22a0a31d4309" /><Relationship Type="http://schemas.openxmlformats.org/officeDocument/2006/relationships/notesSlide" Target="/ppt/notesSlides/notesSlide14.xml" Id="R40128bd7f40f429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d9d1513d840bd" /><Relationship Type="http://schemas.openxmlformats.org/officeDocument/2006/relationships/notesSlide" Target="/ppt/notesSlides/notesSlide15.xml" Id="R821bcfd632ac41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32D853-77A6-4B78-93C4-E011F4EC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143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7D"/>
          </a:solidFill>
          <a:ln xmlns:a="http://schemas.openxmlformats.org/drawingml/2006/main" w="0">
            <a:solidFill>
              <a:srgbClr val="315E7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C883A4-5377-411D-8F4E-F73F6B23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066800"/>
            <a:ext cx="781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Trustilo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808BD-C64C-4537-97BA-CBF4BE57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15E7D"/>
                </a:solidFill>
                <a:latin typeface="Arial"/>
                <a:ea typeface="Arial"/>
                <a:cs typeface="Arial"/>
              </a:rPr>
              <a:t>Evidence-grounded security questionnaire automation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13DCD7-6F77-4733-B327-DF3C19C4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Proposal defense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28B82-A5A5-4B37-A6CC-89C7B6B4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Multi-Agent System for Compliance Automation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E7CEB-A499-4633-8FBF-57880CE7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771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7B298-5BE2-49EC-9236-4F4C6CC9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958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Presenter 1  ·  Presenter 2  ·  Presenter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EAE322-6CA7-41B4-9B1A-F1ACEFB7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768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Replace presenter labels with team names before the defense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44D529-8561-428F-B7E9-F3EAE4C4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334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PRESENTER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08665-8BD0-4484-A74E-931D2EDA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Trustilo  |  Proposal defense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0A52BB-7F49-4134-9F42-78550FBF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318043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3D1FC3-4D5E-4A36-8D90-7F68CD4C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Problem and 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B9843A-95FD-46E9-BAB2-79DDE135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087EF-2418-41F4-B7DB-4858B5DA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5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PRESENTER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901D3-8958-416B-9958-9919C2B2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2BE94-1CEE-499F-9A5A-5C101D72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Security teams repeat the same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73A48-9863-48B2-A061-4C17A2B7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4762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1300" indent="-114300" algn="l">
              <a:spcAft>
                <a:spcPts val="1300"/>
              </a:spcAft>
              <a:buChar char="•"/>
              <a:defRPr sz="165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Find answers across policies, audit reports, architecture documents, and prior questionnaires.</a:t>
            </a:r>
          </a:p>
          <a:p xmlns:a="http://schemas.openxmlformats.org/drawingml/2006/main">
            <a:pPr marL="241300" indent="-114300" algn="l">
              <a:spcAft>
                <a:spcPts val="1300"/>
              </a:spcAft>
              <a:buChar char="•"/>
              <a:defRPr sz="165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Copy evidence into long customer or vendor forms.</a:t>
            </a:r>
          </a:p>
          <a:p xmlns:a="http://schemas.openxmlformats.org/drawingml/2006/main">
            <a:pPr marL="241300" indent="-114300" algn="l">
              <a:spcAft>
                <a:spcPts val="1300"/>
              </a:spcAft>
              <a:buChar char="•"/>
              <a:defRPr sz="165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Ask security experts to review routine answers as well as genuinely risky ones.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B1ACB-6D08-4A9E-B565-F875B732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0020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9148E-9651-4E27-8CA2-C576CFAF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 direct LLM creates a different 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F806C1-A9E0-4E5E-8E82-45272751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33600"/>
            <a:ext cx="4762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1300" indent="-114300" algn="l">
              <a:spcAft>
                <a:spcPts val="1300"/>
              </a:spcAft>
              <a:buChar char="•"/>
              <a:defRPr sz="165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Fluent answers may contain unsupported or stale claims.</a:t>
            </a:r>
          </a:p>
          <a:p xmlns:a="http://schemas.openxmlformats.org/drawingml/2006/main">
            <a:pPr marL="241300" indent="-114300" algn="l">
              <a:spcAft>
                <a:spcPts val="1300"/>
              </a:spcAft>
              <a:buChar char="•"/>
              <a:defRPr sz="165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The model may cite relevant text that does not fully support the answer.</a:t>
            </a:r>
          </a:p>
          <a:p xmlns:a="http://schemas.openxmlformats.org/drawingml/2006/main">
            <a:pPr marL="241300" indent="-114300" algn="l">
              <a:spcAft>
                <a:spcPts val="1300"/>
              </a:spcAft>
              <a:buChar char="•"/>
              <a:defRPr sz="165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A final answer may lack the audit trail needed for a security representation.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E6776-2327-48FC-B120-F49FC1F7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105537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8F0F5"/>
          </a:solidFill>
          <a:ln xmlns:a="http://schemas.openxmlformats.org/drawingml/2006/main" w="0">
            <a:solidFill>
              <a:srgbClr val="E8F0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BCADE7-8556-49EA-A468-0EAAA638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Core problem: reduce repetitive work while keeping every material claim tied to current, approved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464666-C6D3-4D17-BB73-6BF1F275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Trustilo  |  Proposal defense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5C4F2-10BB-4B67-92D9-7ECC4E99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031580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DBD9FE-A609-4422-957E-3E626728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Users and non-negotiable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9BE0E-6CED-4848-A8D6-E0C5AAA6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STAKEHOLDERS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476683-FA39-4D12-86C0-668820D4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5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PRESENTER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06C7E-EAE3-4250-9447-8B377DE8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7D3A98-38FE-4BAD-AD47-1D26AB6B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Role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B7E34-7A9F-4AE3-9BA8-7B318F02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5811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Primary 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711FE-83F4-454C-BE52-3531932D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5811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What success means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10769A-4F3D-4C91-8D12-EDDAD427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CAF6D3-634C-4BFA-A07E-D6EEA10B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GRC analyst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B68181-BD97-46BC-9020-4C7CD30E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002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Uploads and tracks questionnaires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2E69FF-6672-4D1A-9A56-8A23EAAC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002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Less manual copying and evidence 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BD8454-0E1D-4109-B780-5CF26079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4EB75-EDC0-42EB-A6D8-F6AA25DD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Security SME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EDA3E9-D6C0-4CA9-86D6-D1B4D81F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432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Reviews uncertain or high-risk answers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5A65B4-2D86-4256-988A-EFCAC73A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432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Time focused on exceptions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BB084A-5C68-4110-85D8-72929327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48FB45-5FF8-4B01-8D64-D2F0B748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Reviewer / auditor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737980-A59F-433D-9966-A55C12AC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861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Checks sources and decisions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1007D3-3D7B-452A-BA44-8B40C022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861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Reconstructable answer lineage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A14DD7-C286-41E8-AE92-1FADD7E1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F583D1-B6F9-45F8-8AD7-891007B5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System administrator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07A76C-C511-4B7A-BD60-F3FA5870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2291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Protects customer 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EBCC8F-15A2-4B70-8F65-E2EC1426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291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Zero cross-tenant retrieval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CDCD42-536E-487C-B6FD-FA733A5C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10325100" cy="866775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576EDF-A523-4A82-A0BB-A9B8FA4A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149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Three rules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197F56-901D-4611-8F97-7470EE85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248275"/>
            <a:ext cx="838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No claim without a citation   ·   Tenant filter before every evidence query   ·   Every decision versioned and auditable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402806-ED83-4329-BD4D-74D4C81D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Trustilo  |  Proposal defense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2C4034-EB07-411A-B070-2C6A7177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437072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8421B2-599A-475D-BC04-EF322BA0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Research question and MVP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B85CC-A08E-4E29-AE11-8AAD5BAF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RESEARCH FRAMING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BCD6D-8E38-4946-AFE9-0984026B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5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PRESENTER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366E3-3626-48A9-9B15-78F14719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0781C-D85D-4954-8DF6-2A6EA26C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105156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8F0F5"/>
          </a:solidFill>
          <a:ln xmlns:a="http://schemas.openxmlformats.org/drawingml/2006/main" w="0">
            <a:solidFill>
              <a:srgbClr val="E8F0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4F04F-1B2E-4112-81C4-4144AC8B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19275"/>
            <a:ext cx="9867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Can a multi-agent, retrieval-grounded, verification-and-escalation pipeline improve evidence faithfulness and reduce human-review effort compared with a direct LLM or single-agent RAG?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E92DFC-5CDB-4213-A4D9-DEC6C1FD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5745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5745C"/>
                </a:solidFill>
                <a:latin typeface="Arial"/>
                <a:ea typeface="Arial"/>
                <a:cs typeface="Arial"/>
              </a:rPr>
              <a:t>MVP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ABD2D-5A2D-4DA6-9E49-2826674F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1300" indent="-114300" algn="l">
              <a:spcAft>
                <a:spcPts val="800"/>
              </a:spcAft>
              <a:buChar char="•"/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Questionnaire ingestion for PDF, XLSX, CSV, and text</a:t>
            </a:r>
          </a:p>
          <a:p xmlns:a="http://schemas.openxmlformats.org/drawingml/2006/main">
            <a:pPr marL="241300" indent="-114300" algn="l">
              <a:spcAft>
                <a:spcPts val="800"/>
              </a:spcAft>
              <a:buChar char="•"/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Versioned customer-approved evidence library</a:t>
            </a:r>
          </a:p>
          <a:p xmlns:a="http://schemas.openxmlformats.org/drawingml/2006/main">
            <a:pPr marL="241300" indent="-114300" algn="l">
              <a:spcAft>
                <a:spcPts val="800"/>
              </a:spcAft>
              <a:buChar char="•"/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Retrieval, grounded drafting, verification, escalation, and reviewer console</a:t>
            </a:r>
          </a:p>
          <a:p xmlns:a="http://schemas.openxmlformats.org/drawingml/2006/main">
            <a:pPr marL="241300" indent="-114300" algn="l">
              <a:spcAft>
                <a:spcPts val="800"/>
              </a:spcAft>
              <a:buChar char="•"/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Benchmarking with public questions, synthetic evidence, and SME labels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C0CDF9-3478-4664-81E8-772B151E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05150"/>
            <a:ext cx="0" cy="2609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D9E116-993B-41EC-9360-230FA21A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051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A575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A5752"/>
                </a:solidFill>
                <a:latin typeface="Arial"/>
                <a:ea typeface="Arial"/>
                <a:cs typeface="Arial"/>
              </a:rPr>
              <a:t>Post-MVP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11F3D5-9B09-4631-A2F5-148F80FC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43300"/>
            <a:ext cx="4667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1300" indent="-114300" algn="l">
              <a:spcAft>
                <a:spcPts val="800"/>
              </a:spcAft>
              <a:buChar char="•"/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Automated framework decisioning and risk scoring</a:t>
            </a:r>
          </a:p>
          <a:p xmlns:a="http://schemas.openxmlformats.org/drawingml/2006/main">
            <a:pPr marL="241300" indent="-114300" algn="l">
              <a:spcAft>
                <a:spcPts val="800"/>
              </a:spcAft>
              <a:buChar char="•"/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Questionnaire portal integrations</a:t>
            </a:r>
          </a:p>
          <a:p xmlns:a="http://schemas.openxmlformats.org/drawingml/2006/main">
            <a:pPr marL="241300" indent="-114300" algn="l">
              <a:spcAft>
                <a:spcPts val="800"/>
              </a:spcAft>
              <a:buChar char="•"/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Multilingual support and enterprise SSO</a:t>
            </a:r>
          </a:p>
          <a:p xmlns:a="http://schemas.openxmlformats.org/drawingml/2006/main">
            <a:pPr marL="241300" indent="-114300" algn="l">
              <a:spcAft>
                <a:spcPts val="800"/>
              </a:spcAft>
              <a:buChar char="•"/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Autonomous model fine-tuning from reviewer edits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EB884D-7D96-4F01-95B6-A5E8CF04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Trustilo  |  Proposal defense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FFBE3C-DAE6-4910-95CB-5A3C9BA9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591763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63CAB2-99A9-44AF-B856-DF1DB027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Literature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E8C28-8589-4589-9C34-C7947C17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PRIOR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F8198-EC37-4639-ACD4-2ADC581C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5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PRESENTER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2E1AEC-8FF3-4539-BADA-B93997E9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8B150-BE3F-4E34-8391-2E1B1A34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Theme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02294D-37C5-4E42-B8DA-013CCD3E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524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Key reference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E67870-3F6D-4622-8EDE-6395810D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2400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Design implication for Trustilo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B440D6-692A-4B01-B8BF-F8F18D42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D88A10-0524-417E-A2E7-74DD6F32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RAG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84967D-0835-4712-9B16-CD178D56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145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Lewis et al., 2020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94630-542B-4271-B699-F1C5742C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1452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External evidence improves provenance and updateability.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328D47-4F27-4DFA-9327-6E67BA93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077B09-4BE1-428A-BA2B-1338836D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26A230-16EB-4C6E-8127-EC1DB3C6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812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Dhuliawala et al., 2024; He et al., 2024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0B50AC-1CAF-452B-BBB3-15F7408D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8127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Separate fact checking and allow query revision.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DBE6AA-976D-4765-ABEF-88D3FBB4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848131-B85D-4A46-A453-B330BFD7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RAG evaluation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AB4E78-B4E4-48C7-B63C-A8AB4D2B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480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RAGAS; ARES, 2024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CD8B20-99CC-48FD-8ECD-3F7EAB0D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4802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Measure context, faithfulness, and answer relevance separately.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A3F16C-8136-4F89-A075-779BBA34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7D7937-BF69-48D8-9D70-87652A9B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Hallucination signal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F70ED0-9FE6-40B1-A3AF-EE0255A7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147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SelfCheckGPT, 2023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B0FD47-5FCC-40EE-B3AF-B8A8E626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1477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Inconsistent sampled answers can flag uncertainty.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3CF4A7-639D-445F-9832-D4C95828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0D591C-BF38-4E27-B397-5A35A85E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Domain retrieval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590BBF-01D5-4485-9851-2A2AFA51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5815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PrivacyQA, 2023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9F983A-2348-4AF8-A2C5-4C05170D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8152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Retriever ensembles and filtering help domain QA.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AD6EFE-38BD-42B9-8B0E-FB386D72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D1F72C-80CF-428E-99FF-20865E76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Compliance reasoning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2FA0E8-3899-4B32-B308-FE2DD1D8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2482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Sun et al., 2025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CA9E5A-D3EE-404D-8A1C-BF73B511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24827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Structured context supports auditable compliance decisions.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EF889A-DF0B-4BE6-A3A5-A4C5B22C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Trustilo  |  Proposal defense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A3BCD4-BD6B-4D30-AEE4-056EAF89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437723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FB7383-C23D-4338-B33C-83FD69E0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Research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435EE-C4DF-4030-B7DD-75B2E0EA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LITERATURE 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EF1F0-E9B4-420D-A65E-63029D39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5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PRESENTER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DA3666-656D-4BBE-B7B9-A6DE5328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0B62D-C715-4E2B-95AD-6A6F1EF4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Prior work solves important parts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D68E7D-3BA8-4BD1-9F6E-A2AEDA2D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4762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1300" indent="-114300" algn="l">
              <a:spcAft>
                <a:spcPts val="1100"/>
              </a:spcAft>
              <a:buChar char="•"/>
              <a:defRPr sz="15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RAG connects generation to external evidence.</a:t>
            </a:r>
          </a:p>
          <a:p xmlns:a="http://schemas.openxmlformats.org/drawingml/2006/main">
            <a:pPr marL="241300" indent="-114300" algn="l">
              <a:spcAft>
                <a:spcPts val="1100"/>
              </a:spcAft>
              <a:buChar char="•"/>
              <a:defRPr sz="15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Verification methods detect or revise weak answers.</a:t>
            </a:r>
          </a:p>
          <a:p xmlns:a="http://schemas.openxmlformats.org/drawingml/2006/main">
            <a:pPr marL="241300" indent="-114300" algn="l">
              <a:spcAft>
                <a:spcPts val="1100"/>
              </a:spcAft>
              <a:buChar char="•"/>
              <a:defRPr sz="15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Evaluation frameworks isolate retrieval and generation failures.</a:t>
            </a:r>
          </a:p>
          <a:p xmlns:a="http://schemas.openxmlformats.org/drawingml/2006/main">
            <a:pPr marL="241300" indent="-114300" algn="l">
              <a:spcAft>
                <a:spcPts val="1100"/>
              </a:spcAft>
              <a:buChar char="•"/>
              <a:defRPr sz="15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Compliance research adds structured reasoning.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B857B3-38AE-4999-8731-777A7329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19250"/>
            <a:ext cx="0" cy="3381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9EBDE-0E23-4660-B7C3-6C51A0CB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The security questionnaire gap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CE178-3162-4F8C-BD37-C70087CE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33600"/>
            <a:ext cx="4572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1300" indent="-114300" algn="l">
              <a:spcAft>
                <a:spcPts val="1100"/>
              </a:spcAft>
              <a:buChar char="•"/>
              <a:defRPr sz="15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Customer evidence must stay isolated by tenant.</a:t>
            </a:r>
          </a:p>
          <a:p xmlns:a="http://schemas.openxmlformats.org/drawingml/2006/main">
            <a:pPr marL="241300" indent="-114300" algn="l">
              <a:spcAft>
                <a:spcPts val="1100"/>
              </a:spcAft>
              <a:buChar char="•"/>
              <a:defRPr sz="15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Each claim needs a traceable evidence chunk and version.</a:t>
            </a:r>
          </a:p>
          <a:p xmlns:a="http://schemas.openxmlformats.org/drawingml/2006/main">
            <a:pPr marL="241300" indent="-114300" algn="l">
              <a:spcAft>
                <a:spcPts val="1100"/>
              </a:spcAft>
              <a:buChar char="•"/>
              <a:defRPr sz="15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Stale, missing, or contradictory evidence must trigger abstention or review.</a:t>
            </a:r>
          </a:p>
          <a:p xmlns:a="http://schemas.openxmlformats.org/drawingml/2006/main">
            <a:pPr marL="241300" indent="-114300" algn="l">
              <a:spcAft>
                <a:spcPts val="1100"/>
              </a:spcAft>
              <a:buChar char="•"/>
              <a:defRPr sz="15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Reviewer decisions must become part of the audit trail.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E09AEC-0137-48D5-B46F-7878BD14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103632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4EFE5"/>
          </a:solidFill>
          <a:ln xmlns:a="http://schemas.openxmlformats.org/drawingml/2006/main" w="0">
            <a:solidFill>
              <a:srgbClr val="F4EF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C8C706-6029-4B10-8367-06BF3F2B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733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96733F"/>
                </a:solidFill>
                <a:latin typeface="Arial"/>
                <a:ea typeface="Arial"/>
                <a:cs typeface="Arial"/>
              </a:rPr>
              <a:t>Proposed contribution: integrate these controls into one testable pipeline for questionnaire response.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40FB8-7746-4E40-95D2-8BD05010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Trustilo  |  Proposal defense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D7114E-7FA0-40C7-9395-D70A39B7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042317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A78009-10D2-440B-8B65-09B52EEA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Proposed 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AECA2-4E90-476E-B65A-DEA5D436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SYSTEM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F164B-340E-4235-8928-27F63352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5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PRESENTER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38258-61C0-4AAE-AEB8-24E19808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E8C1A-4D0C-4401-BA22-50E180D1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943100" cy="85725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35BA0-DFA9-4D49-8C94-AB997CF6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Intake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CDE7F-B4FE-4497-91E8-335EB2F5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38350"/>
            <a:ext cx="1943100" cy="85725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E8F0F5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12E0CE-D674-4369-B56C-64DBE705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669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Hybrid retrieval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E9BD5B-AEA6-4E0A-8AEF-5B0B273C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38350"/>
            <a:ext cx="1943100" cy="85725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EAF0EB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69C8A2-F483-47AE-BFD2-014150E5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669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Grounded draft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213452-C788-4CFF-AF3D-B198C016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38350"/>
            <a:ext cx="1943100" cy="85725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4EFE5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E0DD5B-5444-410C-8118-11ABA3DC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669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Independent 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7ED577-6B70-4DB7-A4E1-4CB8892E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38350"/>
            <a:ext cx="1943100" cy="85725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5EAE8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DBE289-2C6E-429C-B87C-616930AC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2669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Finalize / review</a:t>
            </a:r>
          </a:p>
        </p:txBody>
      </p:sp>
      <p:cxnSp>
        <p:nvCxnSpPr>
          <p:cNvPr id="47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533650" y="24669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9636E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800600" y="24669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9636E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067550" y="24669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9636E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334500" y="24669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9636E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3527F5-4DAE-472B-A603-E1AA8CD7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Questionnaire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939427-7372-4140-B8C1-5A14980A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57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Answer + evidence report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846DEC-16F7-43E8-9DC9-8ABB922D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33800"/>
            <a:ext cx="29527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15E7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3560BC-FCF9-47D6-80A7-DFA8BC5F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862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Versioned knowledge</a:t>
            </a:r>
          </a:p>
          <a:p xmlns:a="http://schemas.openxmlformats.org/drawingml/2006/main">
            <a:pPr algn="ctr">
              <a:defRPr sz="150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library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7398D6-A604-44F8-9255-D92AADC5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005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tenant_id · source · version · valid dates</a:t>
            </a:r>
          </a:p>
        </p:txBody>
      </p:sp>
      <p:cxnSp>
        <p:nvCxnSpPr>
          <p:cNvPr id="56" name=""/>
          <p:cNvCxnSpPr>
            <a:stCxn xmlns:a="http://schemas.openxmlformats.org/drawingml/2006/main" id="21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 flipV="1">
            <a:off x="3829050" y="2895600"/>
            <a:ext cx="790575" cy="8382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15E7D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87FDA9-5E12-46F9-B854-FCA933E9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29050"/>
            <a:ext cx="266700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A575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BC8021-842F-4567-A28F-A1199A42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019550"/>
            <a:ext cx="2324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575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5752"/>
                </a:solidFill>
                <a:latin typeface="Arial"/>
                <a:ea typeface="Arial"/>
                <a:cs typeface="Arial"/>
              </a:rPr>
              <a:t>Human reviewer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518AD4-F6DF-446C-8447-AACC9B67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33875"/>
            <a:ext cx="2324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approve · edit · reject</a:t>
            </a:r>
          </a:p>
        </p:txBody>
      </p:sp>
      <p:cxnSp>
        <p:nvCxnSpPr>
          <p:cNvPr id="60" name=""/>
          <p:cNvCxnSpPr>
            <a:stCxn xmlns:a="http://schemas.openxmlformats.org/drawingml/2006/main" id="13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9944100" y="2895600"/>
            <a:ext cx="685800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9A5752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5B1517-51FF-46C5-802B-CD2E92AA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62550"/>
            <a:ext cx="39624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A8607D-8E56-4C7F-91C6-F5BB6E41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43525"/>
            <a:ext cx="3581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Verifier may revise the query and retry retrieval once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6164E8-542C-495A-8903-07843D3C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Trustilo  |  Proposal defense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A4FD42-AD3F-42AA-9204-C9026B68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088282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43C955-E316-433D-91CA-36F89DC4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Technical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C9D96-B21C-4C29-A72C-5FC74662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8C720-565B-46D7-9A2C-DCC86F47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5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PRESENTER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7B645B-587C-4ED2-B1EE-D920D88C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14D86-3DC0-43A8-AF7E-A169FC93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43050"/>
            <a:ext cx="10325100" cy="6667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5EAE8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6ADA7-E1FB-4B7B-9470-053B4B79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81175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INTERFACE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842FFC-B217-424C-A3D3-69691918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7145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Reviewer console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DF5B6-DAAA-4311-9596-A9FE914C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04975"/>
            <a:ext cx="3924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React or HTMX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1C07A-401C-4BB6-B901-C2C5322B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10325100" cy="6667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0F5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4A1FF-A110-43B8-89F5-8981A783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API AND ORCHESTRATION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D13FE5-E561-4DB4-8261-3343027B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52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Modular monolith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F1C7EA-9D45-4FD8-B784-819E4211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43175"/>
            <a:ext cx="3924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Python 3.11 · FastAPI · persisted state graph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545A99-23CD-4BA5-A52E-59ADC2E6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10325100" cy="6667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0EB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E5468E-A374-4D5A-A518-782CFE18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57575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AI STAGES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2CCB62-D4D9-4068-9EB4-AFE9182B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909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Replaceable stage services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6196F1-BFCE-42A1-8679-9663E419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81375"/>
            <a:ext cx="3924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classification · retrieval · drafting · verification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A5D47B-C61D-4D44-B0DC-97094F52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10325100" cy="6667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EFE5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FA0F8A-15B9-40FB-A6C1-858C2D12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MODEL ACCESS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9E6E39-3DF8-4533-A391-3476D640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291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Provider abstraction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27C7D1-4690-4C47-B598-283D14E8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19575"/>
            <a:ext cx="3924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No stage calls a vendor SDK directly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23C1CA-C8D0-4A56-879D-7DFC545C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10325100" cy="6667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208D2B-E708-4F4E-9AF1-D97767C2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33975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B8CF37-1F90-48A5-AD1C-04FB140A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0673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PostgreSQL + pgvector + full-text search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6340AB-149B-4542-B28E-904D9216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57775"/>
            <a:ext cx="3924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Object storage for source documents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AF81AE-1CF8-4FA3-BCE5-66FEDC85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Why this shape?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6E912B-5174-4519-AA15-0F1D066D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743575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A modular monolith keeps deployment manageable for a three-person, 24-week project while preserving clean stage boundaries.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D5333B-ADDA-4415-87AF-4F85250E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Trustilo  |  Proposal defense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4C275E-2D1E-4363-B6D5-73D825F5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288149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682FBA-33A9-439C-B54C-419EE53B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Grounding and safety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E77F4-E33D-4225-81E3-0DF5F6EB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TRUST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473991-EE5A-47C6-824A-593468BA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5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PRESENTER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631941-3325-4CBC-AF06-3065C4C4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9E372-9529-42D1-A4F7-E4B0953F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5"/>
          </a:solidFill>
          <a:ln xmlns:a="http://schemas.openxmlformats.org/drawingml/2006/main" w="0">
            <a:solidFill>
              <a:srgbClr val="E8F0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7BFC6A-1E15-4FD7-83FD-8F2025C4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4307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CCD380-98B6-4CE1-B55A-F08EDB37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097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Retrieval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33DC46-A3EC-4C7F-95AC-1200DAB1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00200"/>
            <a:ext cx="6743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Tenant filter runs before the query. Evidence must match the active version and validity rules.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69B27-E2CD-482F-BD63-45216CB5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6695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8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9F2B9-FB0C-4FA8-8CFE-0BF76FEA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EB"/>
          </a:solidFill>
          <a:ln xmlns:a="http://schemas.openxmlformats.org/drawingml/2006/main" w="0">
            <a:solidFill>
              <a:srgbClr val="EAF0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E9BA0B-ACED-4447-B8B6-48862CB7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5745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5745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CCAACE-4647-4EF4-8577-18B4CBCF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745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5745C"/>
                </a:solidFill>
                <a:latin typeface="Arial"/>
                <a:ea typeface="Arial"/>
                <a:cs typeface="Arial"/>
              </a:rPr>
              <a:t>Drafting 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47FF8E-76E0-47C4-8223-2DCE7E00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52700"/>
            <a:ext cx="6743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Every material claim carries an evidence chunk ID. Missing support produces an abstention.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8ABAC2-EA2F-4885-864F-997BCB2B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1945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8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3673A9-9A48-4EC8-AEA4-EB5B3282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FE5"/>
          </a:solidFill>
          <a:ln xmlns:a="http://schemas.openxmlformats.org/drawingml/2006/main" w="0">
            <a:solidFill>
              <a:srgbClr val="F4EF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1118F8-5FDF-4507-A73C-71C79119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4807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6733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96733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AB6310-1669-4B1A-B1BF-C47D3CD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147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67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6733F"/>
                </a:solidFill>
                <a:latin typeface="Arial"/>
                <a:ea typeface="Arial"/>
                <a:cs typeface="Arial"/>
              </a:rPr>
              <a:t>Verification 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6EE24F-9946-40F1-9339-7271B1D8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05200"/>
            <a:ext cx="6743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A separate stage checks support, contradiction, and freshness before pass or escalation.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7416A8-6019-46A7-8DE0-740BE469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8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3F8037-A419-4DB1-8928-650CF4B7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EAE8"/>
          </a:solidFill>
          <a:ln xmlns:a="http://schemas.openxmlformats.org/drawingml/2006/main" w="0">
            <a:solidFill>
              <a:srgbClr val="F5EA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0E10BE-EEBF-446F-A7D9-FB4E27AD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0057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A575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9A575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AE07DB-A764-4AD1-B0DE-2810FF50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672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A575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A5752"/>
                </a:solidFill>
                <a:latin typeface="Arial"/>
                <a:ea typeface="Arial"/>
                <a:cs typeface="Arial"/>
              </a:rPr>
              <a:t>Review gate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D99CAE-90F0-4AF4-9DAA-3518FBE0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57700"/>
            <a:ext cx="6743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Low-confidence or novel cases show the exact concern and evidence to a human reviewer.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66505D-D0A7-40B5-AC0A-88EB94C6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103251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F418DB-480B-4FB7-A813-7C3D4D26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95950"/>
            <a:ext cx="994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Uploaded documents supply facts only. Their contents never change agent instructions.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9C30C2-E781-4C01-A965-FDA7C7DF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Trustilo  |  Proposal defense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4FB03C-848E-4E99-8A97-60CA98DE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267041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A46F23-82A0-44BB-B495-DE0F0218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State, contracts, and audit trail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94BA2-AFA8-4CB9-9757-791783EB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TECHNICAL DETAIL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3C643F-0DC6-4A8D-AD02-1A35D5EB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5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PRESENTER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EB7E7-25B9-46A1-AFC0-606FFFD4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2E8B0-F7C6-476A-9667-08F1F424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9621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8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0216E-5DB7-4A24-A865-6DE56BBB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145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CLASSIFIED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52C69-927B-4685-A606-06ECF1A9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33550"/>
            <a:ext cx="19621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8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B53157-0CA3-4D00-BDB7-219C5033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145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RETRIEVED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563755-FA5B-478B-BA94-12776BE1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33550"/>
            <a:ext cx="19621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8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CC0E5A-F6E4-40DD-8ACA-36C1454A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145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DRAFTED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3CE309-F5EC-4CD5-9781-EFE19DE8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33550"/>
            <a:ext cx="19621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8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8CD231-0778-4295-BC0B-EB411D57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145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VERIFYING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DC66FA-7BD2-4057-B450-641FC7D5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733550"/>
            <a:ext cx="19621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8F0F5"/>
          </a:solidFill>
          <a:ln xmlns:a="http://schemas.openxmlformats.org/drawingml/2006/main" w="11430">
            <a:solidFill>
              <a:srgbClr val="315E7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DEBDE0-74B1-46C4-A4FE-44541259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145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FINALIZED / ESCALATED</a:t>
            </a:r>
          </a:p>
        </p:txBody>
      </p:sp>
      <p:cxnSp>
        <p:nvCxnSpPr>
          <p:cNvPr id="54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47950" y="20288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9636E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838700" y="20288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9636E"/>
            </a:solidFill>
            <a:prstDash val="solid"/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029450" y="20288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9636E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220200" y="20288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9636E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F9D47D-4CC2-4A02-A9D9-F82F406C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Canonical objects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25F971-1D27-4AD1-82A6-B86B6128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23241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952218-94EB-4476-B8D5-D62E2EDD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3337FE-542B-4B64-ADA1-A0B01348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43300"/>
            <a:ext cx="23241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790494-705B-49A4-BB48-BCC406CF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8617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EvidenceChunk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B040EA-BD41-45BA-BAB4-BB6216B1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23241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C09DB6-C1E6-4ED8-85A0-DCE5085E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8617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3949B7-6FEE-46AB-B301-7F1A9CC5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43300"/>
            <a:ext cx="23241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54705D-30C7-4B44-B709-73024645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8617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Citation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570286-C602-4269-AB50-2B0A30CD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23241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D230D1-F29A-4292-BB32-169CA0A4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9102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VerificationResult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279046-02D4-4EB1-B834-3246C0F9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48150"/>
            <a:ext cx="23241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B94AB1-606A-4351-8BA8-CF0FD628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39102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ReviewTask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7F5543-600D-4E97-B692-549651AC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48150"/>
            <a:ext cx="23241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396035-7879-49DA-8A65-144ADD75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9102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AuditEvent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E2B638-8780-4E57-846E-B3753E09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48150"/>
            <a:ext cx="23241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AF15EF-FDDE-4A43-9266-4023EC02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9102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ExperimentConfig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B72B6D-4E57-4A56-9F49-E4E3A8B6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10325100" cy="762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8F0F5"/>
          </a:solidFill>
          <a:ln xmlns:a="http://schemas.openxmlformats.org/drawingml/2006/main" w="0">
            <a:solidFill>
              <a:srgbClr val="E8F0F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BC724E-2134-4A21-AC55-9DA8D458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975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Every state transition writes an AuditEvent with object IDs, model and prompt versions, timestamps, and decision metadata.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3629CA-1CAB-4389-B5A7-4C8D7802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Trustilo  |  Proposal defense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931DFB-02AF-4166-82D3-F9F97116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2405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C939F3-9297-4325-A8B5-6B9F78A6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Evaluation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8DD8AF-B60D-45D4-9F91-BFD836BB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EXPERIMENT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48C82-973D-41CB-A8C3-A43151FF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5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PRESENTER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87DE9-8976-475E-99FE-77F47D5E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A9F87-4AD5-469E-B106-CDDB68DC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2343150" cy="1695450"/>
          </a:xfrm>
          <a:prstGeom xmlns:a="http://schemas.openxmlformats.org/drawingml/2006/main" prst="roundRect">
            <a:avLst>
              <a:gd name="adj" fmla="val 39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1BD17-0CAF-4A9B-A840-C011C14C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907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57B9B-7D5C-4D0E-9355-C07086B8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Direct LLM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9108A-D1F9-4C21-83B3-A5407066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Question only. No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FED3F-E675-4891-A335-892462D2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00200"/>
            <a:ext cx="2343150" cy="1695450"/>
          </a:xfrm>
          <a:prstGeom xmlns:a="http://schemas.openxmlformats.org/drawingml/2006/main" prst="roundRect">
            <a:avLst>
              <a:gd name="adj" fmla="val 39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0829F-BD2D-4963-8A42-C9E015F1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7907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538E94-3D16-45D3-BFBD-46F7451A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47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Single-agent RAG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636BDD-DEAF-4BB2-BD17-DBE5A520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860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Retrieval plus one drafting call.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D501E-E622-426E-8D80-9035D02F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00200"/>
            <a:ext cx="2343150" cy="1695450"/>
          </a:xfrm>
          <a:prstGeom xmlns:a="http://schemas.openxmlformats.org/drawingml/2006/main" prst="roundRect">
            <a:avLst>
              <a:gd name="adj" fmla="val 39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B0ED1B-D7DD-484E-AB78-466534BC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907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9CE55B-B2A4-40D8-B8D2-A2F47896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47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RAG + verifier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5BB548-5EE8-4EEB-9F30-DBBE7CD4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Independent check, without routing logic.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303F84-55FD-4AC7-9CCE-46687821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00200"/>
            <a:ext cx="2343150" cy="1695450"/>
          </a:xfrm>
          <a:prstGeom xmlns:a="http://schemas.openxmlformats.org/drawingml/2006/main" prst="roundRect">
            <a:avLst>
              <a:gd name="adj" fmla="val 3933"/>
            </a:avLst>
          </a:prstGeom>
          <a:solidFill xmlns:a="http://schemas.openxmlformats.org/drawingml/2006/main">
            <a:srgbClr val="E8F0F5"/>
          </a:solidFill>
          <a:ln xmlns:a="http://schemas.openxmlformats.org/drawingml/2006/main" w="14288">
            <a:solidFill>
              <a:srgbClr val="315E7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25D6D0-AB16-44BF-9B20-4421DF15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907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6F5450-B42F-4AB8-8D96-12679BEC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47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Trustilo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C7BF22-37C7-42C6-BA41-44AC35FF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860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Full pipeline with escalation and review.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300242-EE2B-4563-939C-763A0F3F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004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Fair comparison protocol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318F1D-EA4B-4146-AA86-E9497E24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103251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1300" indent="-114300" algn="l">
              <a:spcAft>
                <a:spcPts val="700"/>
              </a:spcAft>
              <a:buChar char="•"/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Use the same frozen held-out questions and scoring rubric for B0, B1, B2, and P.</a:t>
            </a:r>
          </a:p>
          <a:p xmlns:a="http://schemas.openxmlformats.org/drawingml/2006/main">
            <a:pPr marL="241300" indent="-114300" algn="l">
              <a:spcAft>
                <a:spcPts val="700"/>
              </a:spcAft>
              <a:buChar char="•"/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Tune prompts and thresholds only on the development split.</a:t>
            </a:r>
          </a:p>
          <a:p xmlns:a="http://schemas.openxmlformats.org/drawingml/2006/main">
            <a:pPr marL="241300" indent="-114300" algn="l">
              <a:spcAft>
                <a:spcPts val="700"/>
              </a:spcAft>
              <a:buChar char="•"/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Inject hard negatives: missing evidence, contradictory versions, and stale evidence.</a:t>
            </a:r>
          </a:p>
          <a:p xmlns:a="http://schemas.openxmlformats.org/drawingml/2006/main">
            <a:pPr marL="241300" indent="-114300" algn="l">
              <a:spcAft>
                <a:spcPts val="700"/>
              </a:spcAft>
              <a:buChar char="•"/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Tag each failure with one primary cause, such as retrieval miss or verifier false negative.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558704-7D07-461F-AA84-B49BCAD7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Trustilo  |  Proposal defense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83863F-CFC8-47A1-BAEF-77DE9EFD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138881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19E2E79-9B50-4FEB-819C-5E98EF1A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Evaluation metrics and acceptance targets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77D4C-B295-461F-BE2E-66EB4E5A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SUCCESS CRITERIA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9B207-B077-4C3C-B36E-5B009989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5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PRESENTER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8FDD5-8BB2-40A8-AA2F-38EBD98E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BE8D1-8886-4E5F-95A3-C69A8817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2857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FE5"/>
          </a:solidFill>
          <a:ln xmlns:a="http://schemas.openxmlformats.org/drawingml/2006/main" w="0">
            <a:solidFill>
              <a:srgbClr val="F4EF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58FE6-22B1-402B-AF7B-6A8433C7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33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6733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6733F"/>
                </a:solidFill>
                <a:latin typeface="Arial"/>
                <a:ea typeface="Arial"/>
                <a:cs typeface="Arial"/>
              </a:rPr>
              <a:t>PROPOSED TARGETS — NOT YET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530BA-42A4-4D67-9F5F-23C6FB6E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Area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EB014F-2634-4A95-84BF-A5E83968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81200"/>
            <a:ext cx="561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Metric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D68D82-210D-490C-B6C5-87985C93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812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9A4DC6-A2C0-49DC-901C-175161E9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78543-4797-4F4B-8BE6-BEABE458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Ingestion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B5F311-14A2-43D5-884A-7542FA6B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Question extraction correctness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CEC282-9301-4F11-A1F6-42DD74B2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431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≥ 95%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BFDED7-AEED-49D7-8B31-99920E3D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C9BB9C-29F3-4241-A804-69FEF6C4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924D6C-41A8-42A6-B53B-0624023F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003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Evidence Recall@10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74D22C-E09D-41F8-A521-59711D6D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003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≥ 90%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10DE65-0167-4748-9B70-14852F1B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41691D-0B7D-4A0F-B54D-FC343C9C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Groundedness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4BF49C-7374-4DD3-9B3B-3069DDD6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575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Claim-support precision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A85FE5-39B5-4CBD-A6CE-95E96832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575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≥ 95%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84D4A1-605C-4354-95E5-B4C65408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D8DF8B-7A8A-43C9-A1AD-46939D02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A40406-4690-4814-99F0-81D2CEEE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Injected issue detection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73332D-3D55-4ED6-AA87-8DCB0523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147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≥ 90%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949779-4043-4316-AE3B-E67A684F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F8DB81-52D9-4B5D-AA34-F92716C1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Escalation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5075DA-43CD-4259-94BB-455034DF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719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Needs-review recall / pilot precision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19DFCA-3D00-4657-AB36-9C9E1F56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1719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≥ 90% / ≥ 60%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F25291-BC82-418E-8763-DB9EC633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6D2977-F77B-4B3B-A2B3-7DC4E7F2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Security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967A60-83FA-43F5-80DB-0B73D798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291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Cross-tenant retrievals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ABDAD5-20FA-4729-83E1-6A68DE00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6291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533202-EEC3-4DE1-944F-239F01C5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E76EE6-8624-490A-98C7-782B0030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100570-EBCB-47E4-8B28-274F5439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863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Finalized answers with full lineage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4CC317-B6D2-4BD3-BDF7-00301C25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0863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EC3AD4-5102-4289-8255-A9762CC1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DBD82D-7259-4C92-B465-1A6097F8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Latency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9EA83B-ECEC-437F-96DE-5AE969C4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435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100-question run, excluding review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315548-8F45-4812-9B18-C72D59D6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5435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&lt; 15 min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0832B8-4BBA-4A12-A035-81F47835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86475"/>
            <a:ext cx="1032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Also report MRR, unsupported-claim rate, calibration, cost per question, and reviewer time.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120C07-0C9E-4D47-A693-65864B26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Trustilo  |  Proposal defense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6E4766-B793-47E1-A346-3B56E32B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62375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339A31-C71E-4D96-A0E8-337689EE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Business perspective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DFE8D-6A91-414F-A8F6-C8F9A188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COMMERCIAL RATIONALE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E4247-72B6-4A76-9667-3AF16EFF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5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PRESENTER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0B28CF-AEA1-440F-BE59-B5683241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714E66-20A3-45E7-8FDB-8BFF7809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Target user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207E7-A33B-4EE8-98E6-B87072FC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442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Security and GRC teams that answer repeated customer or vendor questionnaires.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55397-FFE2-459E-B000-F60BACCA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5745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5745C"/>
                </a:solidFill>
                <a:latin typeface="Arial"/>
                <a:ea typeface="Arial"/>
                <a:cs typeface="Arial"/>
              </a:rPr>
              <a:t>Value hypothesis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7A80DB-1952-4D32-9C1A-91176FEE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457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1300" indent="-114300" algn="l">
              <a:spcAft>
                <a:spcPts val="800"/>
              </a:spcAft>
              <a:buChar char="•"/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Reduce expert time spent searching and drafting routine answers.</a:t>
            </a:r>
          </a:p>
          <a:p xmlns:a="http://schemas.openxmlformats.org/drawingml/2006/main">
            <a:pPr marL="241300" indent="-114300" algn="l">
              <a:spcAft>
                <a:spcPts val="800"/>
              </a:spcAft>
              <a:buChar char="•"/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Shorten questionnaire turnaround while preserving evidence traceability.</a:t>
            </a:r>
          </a:p>
          <a:p xmlns:a="http://schemas.openxmlformats.org/drawingml/2006/main">
            <a:pPr marL="241300" indent="-114300" algn="l">
              <a:spcAft>
                <a:spcPts val="800"/>
              </a:spcAft>
              <a:buChar char="•"/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Reuse approved answers without silently reusing stale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312ED6-FDD1-40E4-ADD9-0ADA0BCE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81150"/>
            <a:ext cx="0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E2143-EEDD-4285-BBC7-0F450218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811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Adoption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A10F82-4B9A-48B7-BA75-8DAEA735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90725"/>
            <a:ext cx="44767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1300" indent="-114300" algn="l">
              <a:spcAft>
                <a:spcPts val="800"/>
              </a:spcAft>
              <a:buChar char="•"/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Begin with an assisted pilot. A human remains the final authority.</a:t>
            </a:r>
          </a:p>
          <a:p xmlns:a="http://schemas.openxmlformats.org/drawingml/2006/main">
            <a:pPr marL="241300" indent="-114300" algn="l">
              <a:spcAft>
                <a:spcPts val="800"/>
              </a:spcAft>
              <a:buChar char="•"/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Measure time saved, review rate, groundedness, and cost per question.</a:t>
            </a:r>
          </a:p>
          <a:p xmlns:a="http://schemas.openxmlformats.org/drawingml/2006/main">
            <a:pPr marL="241300" indent="-114300" algn="l">
              <a:spcAft>
                <a:spcPts val="800"/>
              </a:spcAft>
              <a:buChar char="•"/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Expand only after the team meets the safety targets on real pilot data.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9F79CC-24E1-408A-91A1-36151C3B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481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67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96733F"/>
                </a:solidFill>
                <a:latin typeface="Arial"/>
                <a:ea typeface="Arial"/>
                <a:cs typeface="Arial"/>
              </a:rPr>
              <a:t>Commercial model to validate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271B4D-4F41-4AC4-973A-DE1F2F4C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67225"/>
            <a:ext cx="4476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B2B software priced by workspace or questionnaire volume. Main costs are model calls, storage, and reviewer time. Pricing remains a hypothesis until pilot discovery.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4587ED-7E6F-4FED-94CB-5A27412D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53100"/>
            <a:ext cx="102679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ABC02E-4FB1-4191-919F-CB28BE26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67400"/>
            <a:ext cx="992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Business proof: fewer reviewer minutes per question at the required claim-support precision.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0DA972-90BB-4AD4-A4EE-0D7E1742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Trustilo  |  Proposal defense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200528-9F2B-44DA-84D4-A55F8C05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24542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4BED8C-17AD-4BA0-9FD7-BD2C45A8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24-week implementation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6CCD4-C158-4D06-8090-3637B616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DELIVERY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98A70-F94D-41D7-884A-848FB76C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5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PRESENTER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680A1-8D65-4A56-A66E-9C6EACF0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347AE-4E4F-45B5-BD52-FF621A58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00965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E8F0F5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C66CC-0E2C-4E8C-80D6-809AFBA4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47825"/>
            <a:ext cx="1009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W1–4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3AEF15-F2A1-4595-AD09-0D05DAB8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533525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Requirements and literature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E07FA2-BFE3-45FD-AA2F-F14E8A51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33525"/>
            <a:ext cx="579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Research question, schemas, benchmark design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E10C9A-1880-46F6-AC4F-D724FFB6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002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8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49E38-A1AD-46C9-8850-69C196EB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100965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E8F0F5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43C02F-6ED8-4DAE-BB42-83E4D071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71725"/>
            <a:ext cx="1009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W5–8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23395A-9A79-45CB-AC5E-977CD881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257425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Data and baselines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F994EA-EB68-4848-B578-D557737B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57425"/>
            <a:ext cx="579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Synthetic evidence, B0 and B1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D5349F-DFDD-4DC4-9A41-8D034882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241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8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3A69F4-1B6B-45D0-A547-5FA316C8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00965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BF9CEE-CBAE-438C-AF0E-68F7D768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95625"/>
            <a:ext cx="1009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W9–12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95D25F-7A87-4E3C-B285-DC152506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81325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Retrieval and drafting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26773D-5D15-4E8E-87D9-D0AB1311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81325"/>
            <a:ext cx="579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Hybrid search, reranking, citations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E062E4-ED0D-4FA6-9C32-82099114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48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8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C1C6CD-F164-432A-A501-6BF5C1BD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100965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908A42-182A-413E-B8B1-A599E161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9525"/>
            <a:ext cx="1009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W13–16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A47644-1F27-4D45-A9ED-19984762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05225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054354-4906-4BAD-9D6B-5C0A0C85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05225"/>
            <a:ext cx="579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Support checks and one retrieval retry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755502-4F5D-48A8-95EA-826D25BB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719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8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A9A67F-EF91-4014-A029-78C42924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100965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3A4E3E-F558-4643-BAF9-42A31C4A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43425"/>
            <a:ext cx="1009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W17–20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C76D3B-1C3B-49AE-BDED-D2068C46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429125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Review workflow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C1E55D-860E-48D6-BFF6-45221B0A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29125"/>
            <a:ext cx="579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Escalation, console, end-to-end MVP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68232B-F875-4A24-AEB0-8FDCC36E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958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8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B510C3-4A2D-42A5-A35F-378D2B15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100965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A205C2-0CBA-4390-84D4-8328209A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67325"/>
            <a:ext cx="1009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W21–24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1A9654-1E4C-4E0D-98D0-6964B210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153025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7A39C8-C675-4DAE-ACB9-BAF40BF0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153025"/>
            <a:ext cx="5791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Ablations, held-out test, SME pilot, report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E0F520-3068-4A75-946A-24C26864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248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FE5"/>
          </a:solidFill>
          <a:ln xmlns:a="http://schemas.openxmlformats.org/drawingml/2006/main" w="0">
            <a:solidFill>
              <a:srgbClr val="F4EF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BB5996-F3B4-4489-83EB-00E6CBBD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048375"/>
            <a:ext cx="9944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673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6733F"/>
                </a:solidFill>
                <a:latin typeface="Arial"/>
                <a:ea typeface="Arial"/>
                <a:cs typeface="Arial"/>
              </a:rPr>
              <a:t>Decision gate at week 20: proceed to final evaluation only after the end-to-end evidence and review path works.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F5A0AB-F9D0-4B5A-B230-FB161878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Trustilo  |  Proposal defense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445611-F877-48E4-8B24-CD563345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748762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60EC38-F177-4BF9-B170-643DBEE3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Expected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BC6A4-9278-4A7E-8029-066EE03C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1992A6-C050-45CC-8C1E-EF1992EA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5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PRESENTER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25CEB-31B8-443D-8FFB-6687D25D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A13B9-DCFF-4A8A-AA30-865A0971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FB0AC3-0BF1-409E-A3CB-2C66B55C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002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Reproducible benchmark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BA0821-B436-49AB-B052-7BB3DA54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Public questionnaire prompts, synthetic versioned evidence, and SME labels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D3BC16-A843-4EE6-9392-1B0BE40E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764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C44B50-09B3-41E8-AED5-FCD05874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574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5745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01582-920F-4C87-90D1-ABCA40E0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384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Working MVP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2A500-82ED-43EA-8648-64052FED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A complete retrieve, draft, verify, escalate, and review 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65096A-8490-4B59-AE9F-32592D8C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146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A50EA8-D593-4357-81F3-3195034D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6733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96733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A5B427-CC4E-4138-85C2-D2968A6D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766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Evidence from experiments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66D6D4-219D-4A9A-841E-6C7ECEB6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9565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Baselines and ablations that show which controls improve the outcome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9E024E-F4E4-4756-9C0F-0182B14B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528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2A9B43-4E9B-4BE0-B697-B964B304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A575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9A575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306F93-E63B-4095-B4E1-C63FF41E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148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Auditable human workflow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121F71-DE71-4D05-8EEA-10AB4CA0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3385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Reviewer decisions, approved edits, and reconstructable answer history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A88B00-6D37-4D3B-9CDA-FE6B5F6F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910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CFBD1E-89B4-4140-8DE8-BDB1042E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10458450" cy="781050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E8F0F5"/>
          </a:solidFill>
          <a:ln xmlns:a="http://schemas.openxmlformats.org/drawingml/2006/main" w="0">
            <a:solidFill>
              <a:srgbClr val="E8F0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03DE14-1892-477A-87E6-E08F8CE7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10200"/>
            <a:ext cx="988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15E7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15E7D"/>
                </a:solidFill>
                <a:latin typeface="Arial"/>
                <a:ea typeface="Arial"/>
                <a:cs typeface="Arial"/>
              </a:rPr>
              <a:t>Trustilo succeeds only if it reduces review effort without weakening evidence faithfulness.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2077F5-C9B9-4AC6-B8AD-4EC1477F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912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656E3D-8A6E-428E-A774-9FCA5A89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Trustilo  |  Proposal defense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29B55E-5CC4-4514-9302-A5B8498B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474610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2026-09-04T16:35:17.9650000Z</dcterms:created>
  <dcterms:modified xsi:type="dcterms:W3CDTF">2026-09-04T16:35:17.9650000Z</dcterms:modified>
</coreProperties>
</file>