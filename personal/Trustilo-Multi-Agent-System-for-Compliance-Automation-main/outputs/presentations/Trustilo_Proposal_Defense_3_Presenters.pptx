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be81eb83647b2" /><Relationship Type="http://schemas.openxmlformats.org/officeDocument/2006/relationships/extended-properties" Target="/docProps/app.xml" Id="R83709ea0c95947da" /><Relationship Type="http://schemas.openxmlformats.org/officeDocument/2006/relationships/officeDocument" Target="/ppt/presentation.xml" Id="R01f0aca56e6549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6d469ea244bfe"/>
  </p:sldMasterIdLst>
  <p:notesMasterIdLst>
    <p:notesMasterId xmlns:r="http://schemas.openxmlformats.org/officeDocument/2006/relationships" r:id="R71c4f09746644f4d"/>
  </p:notesMasterIdLst>
  <p:sldIdLst>
    <p:sldId xmlns:r="http://schemas.openxmlformats.org/officeDocument/2006/relationships" id="256" r:id="Rffc383ab1f0641dd"/>
    <p:sldId xmlns:r="http://schemas.openxmlformats.org/officeDocument/2006/relationships" id="257" r:id="Ra8ca92b755034407"/>
    <p:sldId xmlns:r="http://schemas.openxmlformats.org/officeDocument/2006/relationships" id="258" r:id="R11d133e7f4a04130"/>
    <p:sldId xmlns:r="http://schemas.openxmlformats.org/officeDocument/2006/relationships" id="259" r:id="R0f526f04d96f45dc"/>
    <p:sldId xmlns:r="http://schemas.openxmlformats.org/officeDocument/2006/relationships" id="260" r:id="Re2e00f397725419f"/>
    <p:sldId xmlns:r="http://schemas.openxmlformats.org/officeDocument/2006/relationships" id="261" r:id="R0c1ebb2f580644e4"/>
    <p:sldId xmlns:r="http://schemas.openxmlformats.org/officeDocument/2006/relationships" id="262" r:id="Rcc91c2fe1b6e4692"/>
    <p:sldId xmlns:r="http://schemas.openxmlformats.org/officeDocument/2006/relationships" id="263" r:id="Re3c5ec04b38f4a0f"/>
    <p:sldId xmlns:r="http://schemas.openxmlformats.org/officeDocument/2006/relationships" id="264" r:id="Rdbc27b0b660e4f22"/>
    <p:sldId xmlns:r="http://schemas.openxmlformats.org/officeDocument/2006/relationships" id="265" r:id="R2642308bf52f487b"/>
    <p:sldId xmlns:r="http://schemas.openxmlformats.org/officeDocument/2006/relationships" id="266" r:id="R0ac09cfa7a9845bd"/>
    <p:sldId xmlns:r="http://schemas.openxmlformats.org/officeDocument/2006/relationships" id="267" r:id="R0f9bcb2348c04c28"/>
    <p:sldId xmlns:r="http://schemas.openxmlformats.org/officeDocument/2006/relationships" id="268" r:id="R0b63e42c3a554a53"/>
    <p:sldId xmlns:r="http://schemas.openxmlformats.org/officeDocument/2006/relationships" id="269" r:id="Re4ff96f824374634"/>
    <p:sldId xmlns:r="http://schemas.openxmlformats.org/officeDocument/2006/relationships" id="270" r:id="R5263d00afb514c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a29fc428ea4c95" /><Relationship Type="http://schemas.openxmlformats.org/officeDocument/2006/relationships/slideMaster" Target="/ppt/slideMasters/slideMaster1.xml" Id="Rebf6d469ea244bfe" /><Relationship Type="http://schemas.openxmlformats.org/officeDocument/2006/relationships/notesMaster" Target="/ppt/notesMasters/notesMaster1.xml" Id="R71c4f09746644f4d" /><Relationship Type="http://schemas.openxmlformats.org/officeDocument/2006/relationships/presProps" Target="/ppt/presProps.xml" Id="R397c293b73634b24" /><Relationship Type="http://schemas.openxmlformats.org/officeDocument/2006/relationships/tableStyles" Target="/ppt/tableStyles.xml" Id="Rc91a038dd4d54f0c" /><Relationship Type="http://schemas.openxmlformats.org/officeDocument/2006/relationships/slide" Target="/ppt/slides/slide1.xml" Id="Rffc383ab1f0641dd" /><Relationship Type="http://schemas.openxmlformats.org/officeDocument/2006/relationships/slide" Target="/ppt/slides/slide2.xml" Id="Ra8ca92b755034407" /><Relationship Type="http://schemas.openxmlformats.org/officeDocument/2006/relationships/slide" Target="/ppt/slides/slide3.xml" Id="R11d133e7f4a04130" /><Relationship Type="http://schemas.openxmlformats.org/officeDocument/2006/relationships/slide" Target="/ppt/slides/slide4.xml" Id="R0f526f04d96f45dc" /><Relationship Type="http://schemas.openxmlformats.org/officeDocument/2006/relationships/slide" Target="/ppt/slides/slide5.xml" Id="Re2e00f397725419f" /><Relationship Type="http://schemas.openxmlformats.org/officeDocument/2006/relationships/slide" Target="/ppt/slides/slide6.xml" Id="R0c1ebb2f580644e4" /><Relationship Type="http://schemas.openxmlformats.org/officeDocument/2006/relationships/slide" Target="/ppt/slides/slide7.xml" Id="Rcc91c2fe1b6e4692" /><Relationship Type="http://schemas.openxmlformats.org/officeDocument/2006/relationships/slide" Target="/ppt/slides/slide8.xml" Id="Re3c5ec04b38f4a0f" /><Relationship Type="http://schemas.openxmlformats.org/officeDocument/2006/relationships/slide" Target="/ppt/slides/slide9.xml" Id="Rdbc27b0b660e4f22" /><Relationship Type="http://schemas.openxmlformats.org/officeDocument/2006/relationships/slide" Target="/ppt/slides/slide10.xml" Id="R2642308bf52f487b" /><Relationship Type="http://schemas.openxmlformats.org/officeDocument/2006/relationships/slide" Target="/ppt/slides/slide11.xml" Id="R0ac09cfa7a9845bd" /><Relationship Type="http://schemas.openxmlformats.org/officeDocument/2006/relationships/slide" Target="/ppt/slides/slide12.xml" Id="R0f9bcb2348c04c28" /><Relationship Type="http://schemas.openxmlformats.org/officeDocument/2006/relationships/slide" Target="/ppt/slides/slide13.xml" Id="R0b63e42c3a554a53" /><Relationship Type="http://schemas.openxmlformats.org/officeDocument/2006/relationships/slide" Target="/ppt/slides/slide14.xml" Id="Re4ff96f824374634" /><Relationship Type="http://schemas.openxmlformats.org/officeDocument/2006/relationships/slide" Target="/ppt/slides/slide15.xml" Id="R5263d00afb514c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3df32b9baa41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139778355f4404" /><Relationship Type="http://schemas.openxmlformats.org/officeDocument/2006/relationships/notesMaster" Target="/ppt/notesMasters/notesMaster1.xml" Id="Re1a08582ab8a42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d120ab6a4a4f84" /><Relationship Type="http://schemas.openxmlformats.org/officeDocument/2006/relationships/notesMaster" Target="/ppt/notesMasters/notesMaster1.xml" Id="R69eeb73c584f44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4c61d27b1342bc" /><Relationship Type="http://schemas.openxmlformats.org/officeDocument/2006/relationships/notesMaster" Target="/ppt/notesMasters/notesMaster1.xml" Id="R65c804721cb344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8acd351ab049a0" /><Relationship Type="http://schemas.openxmlformats.org/officeDocument/2006/relationships/notesMaster" Target="/ppt/notesMasters/notesMaster1.xml" Id="R39913e2f80a344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334aa145cd4523" /><Relationship Type="http://schemas.openxmlformats.org/officeDocument/2006/relationships/notesMaster" Target="/ppt/notesMasters/notesMaster1.xml" Id="R816d7e1302a944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4263bf90c34627" /><Relationship Type="http://schemas.openxmlformats.org/officeDocument/2006/relationships/notesMaster" Target="/ppt/notesMasters/notesMaster1.xml" Id="R7606b8b9472d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acde263a9c4dd1" /><Relationship Type="http://schemas.openxmlformats.org/officeDocument/2006/relationships/notesMaster" Target="/ppt/notesMasters/notesMaster1.xml" Id="R822ebfb1c84540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58b1cb80964541" /><Relationship Type="http://schemas.openxmlformats.org/officeDocument/2006/relationships/notesMaster" Target="/ppt/notesMasters/notesMaster1.xml" Id="Rf5927837914f44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4735a6b7d846d5" /><Relationship Type="http://schemas.openxmlformats.org/officeDocument/2006/relationships/notesMaster" Target="/ppt/notesMasters/notesMaster1.xml" Id="R613229b4b7c046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b2c1f0df14949" /><Relationship Type="http://schemas.openxmlformats.org/officeDocument/2006/relationships/notesMaster" Target="/ppt/notesMasters/notesMaster1.xml" Id="R4eb7f81e136d45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b63cfbb69049b6" /><Relationship Type="http://schemas.openxmlformats.org/officeDocument/2006/relationships/notesMaster" Target="/ppt/notesMasters/notesMaster1.xml" Id="R490d73be2b6a44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98f825a57f4908" /><Relationship Type="http://schemas.openxmlformats.org/officeDocument/2006/relationships/notesMaster" Target="/ppt/notesMasters/notesMaster1.xml" Id="R5610644c9c6d47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dc692c6b4542d7" /><Relationship Type="http://schemas.openxmlformats.org/officeDocument/2006/relationships/notesMaster" Target="/ppt/notesMasters/notesMaster1.xml" Id="R171704f5d23342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479a8712434f26" /><Relationship Type="http://schemas.openxmlformats.org/officeDocument/2006/relationships/notesMaster" Target="/ppt/notesMasters/notesMaster1.xml" Id="R261e0d3c43924a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ec34c70d9d4732" /><Relationship Type="http://schemas.openxmlformats.org/officeDocument/2006/relationships/notesMaster" Target="/ppt/notesMasters/notesMaster1.xml" Id="R2217dca796cc4d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Introduce Trustilo as an evidence-management and controlled-decision pipeline for security questionnaires.</a:t>
            </a:r>
          </a:p>
          <a:p xmlns:a="http://schemas.openxmlformats.org/drawingml/2006/main">
            <a:r>
              <a:t>• State that the proposal focuses on faster preparation without weakening citation traceability or human oversight.</a:t>
            </a:r>
          </a:p>
          <a:p xmlns:a="http://schemas.openxmlformats.org/drawingml/2006/main">
            <a:r>
              <a:t>• Keep this opening under 30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Abstract and Section 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the trade-off between manual accuracy and fast but unsafe generation.</a:t>
            </a:r>
          </a:p>
          <a:p xmlns:a="http://schemas.openxmlformats.org/drawingml/2006/main">
            <a:r>
              <a:t>• Use one example: a questionnaire asks about encryption, but the answer may depend on a specific current policy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 I.A–I.C</a:t>
            </a:r>
          </a:p>
          <a:p xmlns:a="http://schemas.openxmlformats.org/drawingml/2006/main">
            <a:r>
              <a:t>- Local source: specs/00-overview-and-mvp-scope.md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Connect each user to a measurable requirement.</a:t>
            </a:r>
          </a:p>
          <a:p xmlns:a="http://schemas.openxmlformats.org/drawingml/2006/main">
            <a:r>
              <a:t>• Emphasize that tenant isolation happens before retrieval, not as post-processing.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II.B–II.D</a:t>
            </a:r>
          </a:p>
          <a:p xmlns:a="http://schemas.openxmlformats.org/drawingml/2006/main">
            <a:r>
              <a:t>- Local source: AGENTS.md, Non-negotiables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Read the research question once, then define what the project will and will not attempt.</a:t>
            </a:r>
          </a:p>
          <a:p xmlns:a="http://schemas.openxmlformats.org/drawingml/2006/main">
            <a:r>
              <a:t>• Explain that the frozen scope makes the experiment feasible within 24 weeks.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 IV.A</a:t>
            </a:r>
          </a:p>
          <a:p xmlns:a="http://schemas.openxmlformats.org/drawingml/2006/main">
            <a:r>
              <a:t>- Local source: specs/00-overview-and-mvp-scope.md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Summarize the literature by design lesson instead of explaining all nine papers individually.</a:t>
            </a:r>
          </a:p>
          <a:p xmlns:a="http://schemas.openxmlformats.org/drawingml/2006/main">
            <a:r>
              <a:t>• Handoff to Presenter 2: the next slide identifies the gap these methods leave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Lewis et al. (2020), https://proceedings.neurips.cc/paper/2020/hash/6b493230-Abstract.html</a:t>
            </a:r>
          </a:p>
          <a:p xmlns:a="http://schemas.openxmlformats.org/drawingml/2006/main">
            <a:r>
              <a:t>- He et al. (2024), https://aclanthology.org/2024.findings-emnlp.607/</a:t>
            </a:r>
          </a:p>
          <a:p xmlns:a="http://schemas.openxmlformats.org/drawingml/2006/main">
            <a:r>
              <a:t>- Es et al. (2024), https://aclanthology.org/2024.eacl-demo.16/</a:t>
            </a:r>
          </a:p>
          <a:p xmlns:a="http://schemas.openxmlformats.org/drawingml/2006/main">
            <a:r>
              <a:t>- Saad-Falcon et al. (2024), https://aclanthology.org/2024.naacl-long.20/</a:t>
            </a:r>
          </a:p>
          <a:p xmlns:a="http://schemas.openxmlformats.org/drawingml/2006/main">
            <a:r>
              <a:t>- Dhuliawala et al. (2024), https://aclanthology.org/2024.findings-acl.212/</a:t>
            </a:r>
          </a:p>
          <a:p xmlns:a="http://schemas.openxmlformats.org/drawingml/2006/main">
            <a:r>
              <a:t>- Manakul et al. (2023), https://aclanthology.org/2023.emnlp-main.557/</a:t>
            </a:r>
          </a:p>
          <a:p xmlns:a="http://schemas.openxmlformats.org/drawingml/2006/main">
            <a:r>
              <a:t>- Parvez et al. (2023), https://aclanthology.org/2023.eacl-main.16/</a:t>
            </a:r>
          </a:p>
          <a:p xmlns:a="http://schemas.openxmlformats.org/drawingml/2006/main">
            <a:r>
              <a:t>- Sun et al. (2025), https://aclanthology.org/2025.coling-main.178/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Present the gap as an inference from the reviewed literature, not as a universal claim about every commercial product.</a:t>
            </a:r>
          </a:p>
          <a:p xmlns:a="http://schemas.openxmlformats.org/drawingml/2006/main">
            <a:r>
              <a:t>• The contribution is integration, evaluation, and control logic rather than a new foundation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IV.F–IV.I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Walk left to right through the per-question pipeline.</a:t>
            </a:r>
          </a:p>
          <a:p xmlns:a="http://schemas.openxmlformats.org/drawingml/2006/main">
            <a:r>
              <a:t>• The verifier can request one retrieval retry. The bounded loop controls latency and keeps failures attributable.</a:t>
            </a:r>
          </a:p>
          <a:p xmlns:a="http://schemas.openxmlformats.org/drawingml/2006/main">
            <a:r>
              <a:t>• Framework mapping remains outside the MVP pass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specs/01-architecture.md</a:t>
            </a:r>
          </a:p>
          <a:p xmlns:a="http://schemas.openxmlformats.org/drawingml/2006/main">
            <a:r>
              <a:t>- He et al. (2024), https://aclanthology.org/2024.findings-emnlp.607/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why the architecture uses one deployable application rather than microservices.</a:t>
            </a:r>
          </a:p>
          <a:p xmlns:a="http://schemas.openxmlformats.org/drawingml/2006/main">
            <a:r>
              <a:t>• Dense and lexical retrieval share Postgres for a simpler MVP environment.</a:t>
            </a:r>
          </a:p>
          <a:p xmlns:a="http://schemas.openxmlformats.org/drawingml/2006/main">
            <a:r>
              <a:t>• The provider abstraction makes model choice an experiment configuration rather than a code rewrite.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specs/13-tech-stack-and-repo-layout.md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Describe the system as a sequence of gates, each with an explicit failure response.</a:t>
            </a:r>
          </a:p>
          <a:p xmlns:a="http://schemas.openxmlformats.org/drawingml/2006/main">
            <a:r>
              <a:t>• Clarify that an abstention is a safe output, not a model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AGENTS.md, Non-negotiables</a:t>
            </a:r>
          </a:p>
          <a:p xmlns:a="http://schemas.openxmlformats.org/drawingml/2006/main">
            <a:r>
              <a:t>- Local source: specs/05-retrieval.md, specs/06-drafting.md, specs/07-verification.md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The orchestrator alone changes question state, which makes retries and reconstruction deterministic.</a:t>
            </a:r>
          </a:p>
          <a:p xmlns:a="http://schemas.openxmlformats.org/drawingml/2006/main">
            <a:r>
              <a:t>• Each stage receives and returns typed objects, so it can be tested or replaced independently.</a:t>
            </a:r>
          </a:p>
          <a:p xmlns:a="http://schemas.openxmlformats.org/drawingml/2006/main">
            <a:r>
              <a:t>• Handoff to Presenter 3: the next section explains how the proposal will prove whether this design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specs/01-architecture.md</a:t>
            </a:r>
          </a:p>
          <a:p xmlns:a="http://schemas.openxmlformats.org/drawingml/2006/main">
            <a:r>
              <a:t>- Local source: specs/02-data-model.md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that the baselines isolate where value comes from: retrieval, verification, or the full routing design.</a:t>
            </a:r>
          </a:p>
          <a:p xmlns:a="http://schemas.openxmlformats.org/drawingml/2006/main">
            <a:r>
              <a:t>• Hard negatives prevent a system that answers everything from looking artificially strong.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specs/11-evaluation-and-baselines.md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State clearly that these are acceptance targets from the proposal, not completed results.</a:t>
            </a:r>
          </a:p>
          <a:p xmlns:a="http://schemas.openxmlformats.org/drawingml/2006/main">
            <a:r>
              <a:t>• The main outcome balances evidence faithfulness with reviewer workload. Reporting only accuracy would hide this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specs/14-requirements-traceability.md</a:t>
            </a:r>
          </a:p>
          <a:p xmlns:a="http://schemas.openxmlformats.org/drawingml/2006/main">
            <a:r>
              <a:t>- Local source: specs/11-evaluation-and-baselines.md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Separate technical evidence from commercial assumptions. The proposal does not yet claim a market size or validated price.</a:t>
            </a:r>
          </a:p>
          <a:p xmlns:a="http://schemas.openxmlformats.org/drawingml/2006/main">
            <a:r>
              <a:t>• The business case succeeds when the system reduces review effort while meeting groundedness targets.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I.B–I.G and VI</a:t>
            </a:r>
          </a:p>
          <a:p xmlns:a="http://schemas.openxmlformats.org/drawingml/2006/main">
            <a:r>
              <a:t>- Local source: specs/11-evaluation-and-baselines.md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the sequence as dependency-driven: evaluation comes after the complete controlled pipeline works.</a:t>
            </a:r>
          </a:p>
          <a:p xmlns:a="http://schemas.openxmlformats.org/drawingml/2006/main">
            <a:r>
              <a:t>• Keep post-MVP features out of this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 IX, Timeline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Close with the measurable definition of success.</a:t>
            </a:r>
          </a:p>
          <a:p xmlns:a="http://schemas.openxmlformats.org/drawingml/2006/main">
            <a:r>
              <a:t>• Avoid claiming that the targets have already been reached. The proposal commits to testing them.</a:t>
            </a:r>
          </a:p>
          <a:p xmlns:a="http://schemas.openxmlformats.org/drawingml/2006/main">
            <a:r>
              <a:t>• Invite questions on the research design, architecture, or business validation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X–XI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da7d43c8c4c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ff822291b54e84" /><Relationship Type="http://schemas.openxmlformats.org/officeDocument/2006/relationships/slideLayout" Target="/ppt/slideLayouts/slideLayout1.xml" Id="Rb03a8af9e2b9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a8af9e2b9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53362702646c2" /><Relationship Type="http://schemas.openxmlformats.org/officeDocument/2006/relationships/notesSlide" Target="/ppt/notesSlides/notesSlide1.xml" Id="R45506d12a04942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92da79a03499a" /><Relationship Type="http://schemas.openxmlformats.org/officeDocument/2006/relationships/notesSlide" Target="/ppt/notesSlides/notesSlide2.xml" Id="R839d5004a2ee49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03d2ff2f0440c" /><Relationship Type="http://schemas.openxmlformats.org/officeDocument/2006/relationships/notesSlide" Target="/ppt/notesSlides/notesSlide3.xml" Id="R90ea02e4918e44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6e864c0ed4113" /><Relationship Type="http://schemas.openxmlformats.org/officeDocument/2006/relationships/notesSlide" Target="/ppt/notesSlides/notesSlide4.xml" Id="R07505ef8146a4a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690933b1a48c0" /><Relationship Type="http://schemas.openxmlformats.org/officeDocument/2006/relationships/notesSlide" Target="/ppt/notesSlides/notesSlide5.xml" Id="R5f99648df51c4b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c3d9bde264abc" /><Relationship Type="http://schemas.openxmlformats.org/officeDocument/2006/relationships/notesSlide" Target="/ppt/notesSlides/notesSlide6.xml" Id="R3ced0d10c90348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a4fd5ac4f4b1e" /><Relationship Type="http://schemas.openxmlformats.org/officeDocument/2006/relationships/notesSlide" Target="/ppt/notesSlides/notesSlide7.xml" Id="R064206275ebc48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ffcf28b2e4eac" /><Relationship Type="http://schemas.openxmlformats.org/officeDocument/2006/relationships/notesSlide" Target="/ppt/notesSlides/notesSlide8.xml" Id="R0be093a1257c4b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1e1bea2e84f7b" /><Relationship Type="http://schemas.openxmlformats.org/officeDocument/2006/relationships/notesSlide" Target="/ppt/notesSlides/notesSlide9.xml" Id="R6df00daf2ea244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4d331cc944d15" /><Relationship Type="http://schemas.openxmlformats.org/officeDocument/2006/relationships/notesSlide" Target="/ppt/notesSlides/notesSlide10.xml" Id="R519b936ec4b348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7aca5754a474f" /><Relationship Type="http://schemas.openxmlformats.org/officeDocument/2006/relationships/notesSlide" Target="/ppt/notesSlides/notesSlide11.xml" Id="Ree9f8700b5f44a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9ba1245504311" /><Relationship Type="http://schemas.openxmlformats.org/officeDocument/2006/relationships/notesSlide" Target="/ppt/notesSlides/notesSlide12.xml" Id="R7c4e1fef00a84f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002dd835d438d" /><Relationship Type="http://schemas.openxmlformats.org/officeDocument/2006/relationships/notesSlide" Target="/ppt/notesSlides/notesSlide13.xml" Id="R12aa2013e06e45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edbf6937243e9" /><Relationship Type="http://schemas.openxmlformats.org/officeDocument/2006/relationships/notesSlide" Target="/ppt/notesSlides/notesSlide14.xml" Id="Re5cf4857a9b040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b99276f67448c" /><Relationship Type="http://schemas.openxmlformats.org/officeDocument/2006/relationships/notesSlide" Target="/ppt/notesSlides/notesSlide15.xml" Id="Rf25dc5f9813140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52EC7-FC1F-4870-81A7-C64C4CCB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143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solidFill>
              <a:srgbClr val="315E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9BB84-A3B9-4A4D-85A0-02357317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Trustilo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A5301-9895-4736-AC59-9691EF5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5E7D"/>
                </a:solidFill>
                <a:latin typeface="Arial"/>
                <a:ea typeface="Arial"/>
                <a:cs typeface="Arial"/>
              </a:rPr>
              <a:t>Evidence-grounded security questionnaire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24720-200C-4893-8BB9-BA877626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Proposal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90451-C8DC-42B4-94CE-A1190CFD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Multi-Agent System for Compliance 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AF120-8106-4397-96B3-25D98126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51C00-2A81-490A-AAD7-A7D47127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  ·  Presenter 2  ·  Presenter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25C2B-FE1B-4A27-955F-5D5B18D8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Replace presenter labels with team names before the defense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50ADC-707F-4379-A536-27E9DA11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4A61B-E5D9-4C0A-AE17-04884724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A615B-5D44-47C5-9B14-D2A9262E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7096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17FBB-5C98-46FC-A6D5-7644A1C0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Problem and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58B0-2C98-4342-9CEB-DE78E460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6A61D-DA76-4BF1-BF26-62B73DC2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68B3A-7EA9-4607-A30C-09F27C19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1BC58-61D2-4853-AEE0-223E97C4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Security teams repeat the same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7CA90-A8EF-454C-AA7C-CD49D015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Find answers across policies, audit reports, architecture documents, and prior questionnaires.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Copy evidence into long customer or vendor forms.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Ask security experts to review routine answers as well as genuinely risky 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22A13-6A86-40F8-B252-CC06AD62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80D5A-964A-4BEB-8F84-092365E1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 direct LLM creates a different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6CBC7-2509-43B2-B707-A8BF9DE9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Fluent answers may contain unsupported or stale claims.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model may cite relevant text that does not fully support the answer.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final answer may lack the audit trail needed for a security representation.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58414-4277-4A1E-A085-C0E0DA0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553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8DC38-CD87-4862-876E-C87EBB4C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Core problem: reduce repetitive work while keeping every material claim tied to current, approved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0DF9-837C-480B-AD0D-33D3266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C3AD8-14FF-42AC-AC86-987ED61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1414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9007C-95CF-4105-AB62-3D39FBF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Users and non-negotiable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26F6F-277E-40AD-B017-989A9ADF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STAKEHOLDERS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5CB5E-62C0-4537-A8E2-7026DC8D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5A353-E415-46BA-ADB0-62F6CD9C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D1893-ACA2-48DB-AF2E-C1AAD317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5A316-7027-4954-B0F8-3735401C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Primary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46E69-4F41-4714-AD57-7566975B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What success 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CD7CB-2E6C-4841-BBCD-EFC3AD3F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8E6F2-2BE0-4D03-AAA8-CC2CAC0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GRC analyst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20B59-53B4-4542-86BB-D75DBE77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Uploads and tracks questionnaires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FEC85-401E-48A9-842D-3ADCAB05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00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Less manual copying and evidence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81C1-E9F9-4A4C-879E-B205FF5E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A429A-87BD-41B3-B430-F527D7D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Security SME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F94B3-4E9B-4507-BCFC-2EA7180F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Reviews uncertain or high-risk answers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625B0-D586-4E56-A7FF-6136178F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Time focused on exceptions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DBF83-08F2-420E-9352-1785EAE6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71CD5-6E66-4573-9B43-BE65D94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Reviewer / auditor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E5D75-9338-454F-BEE3-FDAD9307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86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Checks sources and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8D23F-500F-4726-8C9A-3AE55DE9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Reconstructable answer lineage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49D9D-C52A-484B-BD2C-BCDEE9A6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F6714-3282-437C-9953-C8EEBDA4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System administrator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53F66-7285-42B4-ACDA-7F65B7C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291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Protects customer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034FB-E6A8-42AF-8E39-8204BBF1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Zero cross-tenant retrieval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AB2F1-3CFB-43F4-9657-89C3B63F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325100" cy="866775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20160-941A-4D7F-B893-29996BA2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Three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8A0E2D-1354-4A29-A4C1-4A52856B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48275"/>
            <a:ext cx="838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claim without a citation   ·   Tenant filter before every evidence query   ·   Every decision versioned and auditable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43913-70BA-4ABD-BB2A-40866A67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78E49-9A7C-4DAF-93F8-F025AE0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6337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1A3DA-F576-4F48-8E93-EF5F7A58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Research question and 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81114-2C7A-4AB2-849B-769AC00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RESEARCH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687EA-CDB1-4C82-A31C-3DC3D19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611B4-DE4E-4AA5-A0CE-332DACA8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8036B-E4F7-4F2A-998A-876D159E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51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521AF-064C-42AD-A33B-66B1ABC2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19275"/>
            <a:ext cx="986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Can a multi-agent, retrieval-grounded, verification-and-escalation pipeline improve evidence faithfulness and reduce human-review effort compared with a direct LLM or single-agent RAG?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5996A-A8B4-457E-A513-537A4BDC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60E40-E500-4536-A448-E11A553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Questionnaire ingestion for PDF, XLSX, CSV, and text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Versioned customer-approved evidence library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Retrieval, grounded drafting, verification, escalation, and reviewer console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Benchmarking with public questions, synthetic evidence, and SME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CB33A-1BF0-43D8-9F15-10BE401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FC00C-0DCC-4311-B891-951F1EFE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Post-MVP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0DDE5-E3B1-45E5-9C73-FECDFB29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66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Automated framework decisioning and risk scoring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Questionnaire portal integrations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Multilingual support and enterprise SSO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Autonomous model fine-tuning from reviewer edits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4EAA0-1A10-46D4-98BB-D1259C58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9BFAB-E2AC-4E91-962B-AC768ECE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3480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BBFB78-B40C-4650-81B4-61658291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55583-140F-4BE7-BCB5-F28ADFC0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PRIOR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A2D54-38E7-4C6F-9BF7-FC62090A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463FE-200B-4B05-B129-2913D227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6DAF4-CF4E-4C98-81D0-39B6172D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0644E-4D8F-4726-BCF3-D8970815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24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Key 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57313-0663-4208-8989-120D61C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Design implication for Trustilo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565A2-CB5D-430E-8C71-C6472586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C3F31-9997-4992-AD9B-05A42FA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EEFF5-6BCB-4F04-BAD1-22665F5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14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Lewis et al., 2020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02FD1-58FA-47AE-8A56-4FB04CD2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145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External evidence improves provenance and updateability.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AFDA7-6C20-4F15-B628-8647DC5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8DDB7-D180-4546-9AAD-112DF2BF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61BAC-A765-480F-B698-91963D2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81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Dhuliawala et al., 2024; He et al.,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77007-DC1A-4DB4-98FE-78C69A3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812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Separate fact checking and allow query revision.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731E4-C03C-4F4C-AF86-82FC1041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2295F-9DF8-4685-808B-654B85E0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RAG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82865-AA58-472C-917D-B3DC0A0C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480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RAGAS; ARES, 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0818C-1082-4C21-AC3E-A802C8B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480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Measure context, faithfulness, and answer relevance separately.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EF9BD-1777-464E-A316-3F6ED8C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BBCDA-1796-408D-A1AF-D7F118A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Hallucination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861F3-ECD7-4B13-ABAC-E341C8DC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14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SelfCheckGPT, 2023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E2E0F-0B6E-47F8-A884-7BA25232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147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Inconsistent sampled answers can flag uncertainty.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2CF9D-69D9-40EB-BB53-0D99DDE6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7BFA6-FE7E-4689-BB86-FC33FA0F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Domain retrieval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A66CD-18DF-47BC-9FA5-1EBD255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81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PrivacyQA, 2023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56B56-2F28-4565-BBA2-96BA204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815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Retriever ensembles and filtering help domain QA.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EBF31-A7B6-48D7-9EAD-B294979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30605-36C2-4874-B42D-8B20AC42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Compliance reasoning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3E5FC-8EDA-4C12-A876-E967D309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Sun et al., 2025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E2B7AF-1ADA-4346-A2DD-AB1D0CC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482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Structured context supports auditable compliance decisions.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47D17-9B07-4EAF-9A82-4C0B56A5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68CA91-D9FD-4254-9CE3-5516B6C0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0138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302BC-1A21-406F-A360-4116F621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41231-8D3D-4D0B-8400-27BE1FA0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LITERATURE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D5456-7D2B-46EE-ACC4-6668C55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39EBA-A6E9-4949-9C57-828815E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0C5C7-E2EC-43B4-BEF5-9A28ACA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Prior work solves important parts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E8841-56A0-4E0F-8CEA-8D3B036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RAG connects generation to external evidence.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Verification methods detect or revise weak answers.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 frameworks isolate retrieval and generation failures.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Compliance research adds structured reasoning.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7DBF6-0336-4051-99F8-EAB4245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0" cy="3381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B8649-5803-4ED0-AA66-784EA96A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The security questionnaire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031BE-619C-4552-BA37-88CC4226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evidence must stay isolated by tenant.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Each claim needs a traceable evidence chunk and version.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Stale, missing, or contradictory evidence must trigger abstention or review.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Reviewer decisions must become part of the audit trail.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A6B09-8C23-4FD1-BB5F-598BB7A0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3632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9EB9D-DCEE-4DF4-B402-0C647BA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Proposed contribution: integrate these controls into one testable pipeline for questionnaire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65895-2488-453C-BAFA-F9E2062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047C3-A6CF-4268-A39B-685DF276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705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56B892-D8F3-4D3B-B89E-A4112CB9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Proposed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2FA57-EF68-4FC9-9891-6A78CEE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EAC0D-7BD6-4A9B-8555-0936F15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28F50-5768-4E9F-8D53-868D79A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5D57A-ECD6-4669-ACBC-0748F3F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5589E-8C7C-498A-B2F4-8D0A743D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AB2C4-EAD9-48DA-B17D-D81FCBCB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72C82-BAFC-49B0-A596-9CBAC06C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Hybrid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20826-F50C-4DB9-8CC4-E4C0F01F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46C6C-B795-446B-848E-FD0F661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Grounded 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DC411-9BBA-443A-B159-21C3008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DA1A1-901F-41DF-BB5C-64A1A60F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Independent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21E6B-6A82-426D-8BF2-82C8F296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EAE8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75279-42E3-40C3-B1B6-B1EAE55C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Finalize / review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3365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0060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6755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3450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0B207-3750-41CF-94DA-FA22FD32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Questionnaire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71267-882D-44D5-AAD9-BFA7804C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57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Answer + evidence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AB42A-451B-406B-98A5-06BDD05A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2952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E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C321A-C209-4774-B14A-CC6966B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29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Versioned knowledge 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53FC1-5FA6-480A-B103-DE1CCDEA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tenant_id · source · version · valid dates</a:t>
            </a:r>
          </a:p>
        </p:txBody>
      </p:sp>
      <p:cxnSp>
        <p:nvCxnSpPr>
          <p:cNvPr id="57" name=""/>
          <p:cNvCxnSpPr>
            <a:stCxn xmlns:a="http://schemas.openxmlformats.org/drawingml/2006/main" id="21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3829050" y="2895600"/>
            <a:ext cx="7905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E7D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A54C3-C12C-488C-B412-ADD07CFA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667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A57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0E7E2-70D9-47C1-9D1F-5EF99CE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195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Human reviewer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076BC-D539-481B-8338-528C9278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338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approve · edit · reject</a:t>
            </a:r>
          </a:p>
        </p:txBody>
      </p:sp>
      <p:cxnSp>
        <p:nvCxnSpPr>
          <p:cNvPr id="61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9944100" y="2895600"/>
            <a:ext cx="6858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A5752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49365-DF28-4D45-80BC-7C6D4522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62550"/>
            <a:ext cx="3962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3ACFA2-0B76-4FC2-962C-3BD8E6A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Verifier may revise the query and retry retrieval once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4A6338-9005-4053-A40E-00FE6E71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057775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6733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F635E-B265-4ED0-B172-97E7CA62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C343D7-FC6C-4CFD-81F1-4C92610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0324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80F236-F2EE-42BF-9AF9-1694165F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57E8E-9623-46F0-B63F-4C5F523D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FC758-3518-422B-95FB-4F8B8994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0CA05-6838-4D1D-B13C-6086620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C9642-0CD5-472C-BA1B-FB416055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EAE8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2634A-CB04-43C5-9E81-D5F25BFD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B1679-E290-44F8-94F2-B1B59E35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Reviewer console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9B17A-A556-401C-9284-648DF6D6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049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React or HTMX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0C546-A4C7-41BE-BEF5-18BFA54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88C3A-95E2-42D2-A829-432F28B3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API AND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14F9A-DED7-4698-B3BD-BDEF8E03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Modular monolith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F1177-CF30-49DB-95ED-82CD51AA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Python 3.11 · FastAPI · persisted state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11313-31BC-493C-BD19-6337B0C6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864E0-5FA1-4BDD-9BF8-6D9CE152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AI STAGES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C7F84-E7B9-402F-84B4-7D7B33EA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Replaceable stage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C2E75-CACA-41EC-AA07-2417F424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classification · retrieval · drafting ·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18185-B5A7-4C41-A6A9-7557756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4EB16-A7C5-4F0C-862F-271EAB17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MODEL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8DC13-7544-4DFE-82DF-2843B1D2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29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Provider abstraction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26703-8521-4C4E-99AB-B49B366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95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No stage calls a vendor SDK directly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C9CEE-93DB-4D2F-A1D0-20B38104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A95BF-1BAF-495F-93F6-8D6FD65B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0A857-6AFF-4E8E-86C7-E25C8AA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PostgreSQL + pgvector + full-text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A70A2-6AFE-45FB-B4FB-57F46D25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Object storage for source documents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6F33F-A1E9-4C49-A460-07E8266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Why this shape?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0EA62-41AF-43F0-AAB1-898B576E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8197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modular monolith keeps deployment manageable for a three-person, 24-week project while preserving clean stage boundaries.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AA771-DB84-48EA-8CA2-A4FD4663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CBB67-304D-430C-A3AC-D5929A2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0969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0EC67-927A-4F42-A31B-A865D80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Grounding and safety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30E02-B6F5-4609-AA74-559E97CD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TRUST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ED7B4-AB7F-4907-9A47-DBD6324B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E7191-8328-4791-BB33-FE7A9D17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07FE9-5F94-4D61-810F-AA0E138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1D12B-32A5-4791-850A-7B697921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4FED3-ED26-4A18-B16A-76CBA9C7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09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Retrieval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4B673-ACF3-4957-A4AB-2292F0C0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02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Tenant filter runs before the query. Evidence must match the active version and validity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F5898-ED46-4728-A6D7-2CCE21A7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2E864-FC9A-4DE9-B9A8-038C9191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0">
            <a:solidFill>
              <a:srgbClr val="EAF0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10057-C24E-4704-AD59-45E13619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8FF2A-BBCF-4FEF-86A6-7A8D78BF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Drafting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5E6B2-28F7-43A6-B1F3-E17E8D74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Every material claim carries an evidence chunk ID. Missing support produces an abstention.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28BB2-1FEA-4D77-A3F0-FB3FEBBA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98E79-B239-4434-99FA-770EC94D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3E249-8ED9-4C0A-9580-01AC1DB4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C30EA-C2BB-411F-9D1E-11D6FC3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14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Verification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26725-38B1-49FE-898E-981B702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separate stage checks support, contradiction, and freshness before pass or escalation.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D930E-88FF-48F1-90B2-B84B6882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9B99C-F24B-4E6F-9ED0-CB0E7CA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AE8"/>
          </a:solidFill>
          <a:ln xmlns:a="http://schemas.openxmlformats.org/drawingml/2006/main" w="0">
            <a:solidFill>
              <a:srgbClr val="F5EA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42398-D7CE-49B8-A17D-5D803BB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42D55-815F-41FC-B4BD-CFF069E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67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Review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31488-A11C-4C92-B89F-B6EA256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Low-confidence or novel cases show the exact concern and evidence to a human reviewer.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93280-E03F-482F-A194-BC5E5DEB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3251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A44BD-9E88-4EC8-A18B-30B9A9C1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95950"/>
            <a:ext cx="994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Uploaded documents supply facts only. Their contents never change agent instructions.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8F954-CC67-450E-A8AD-CF3F3E27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5F803-9E50-4874-A16A-52FD6280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6687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A77F47-F33D-49A1-975C-15D92617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State, contracts, and 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464EB-C09A-45DA-B4F7-88B1BF1A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TECHNICAL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B2BBF-6781-42D5-AE4C-DE3C56D6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A5F1C-6921-4B13-888C-118B222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84381-87F5-42FB-B72A-EB3B5AA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3EBA7-E175-48B0-877D-40D1010E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CLASSIFIED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5584C-85D9-46B1-BE0F-01EB776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4B90A-13DF-4B3F-AAF8-A31EDB9B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5FC07-7CAA-4F5C-86F0-4ACE7DDE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25B37-6F88-4222-9A79-D5D3D587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DRAFTED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A24AF-43ED-444A-B6FB-B16AD7B7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08D26-707D-4AA2-A529-56A7F56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VERIFYING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9C0E7-0625-4305-93CE-AC29E5C6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11430">
            <a:solidFill>
              <a:srgbClr val="315E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BA5B4-927D-447A-AA53-87622BC0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FINALIZED / ESCALATED</a:t>
            </a:r>
          </a:p>
        </p:txBody>
      </p:sp>
      <p:cxnSp>
        <p:nvCxnSpPr>
          <p:cNvPr id="5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4795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3870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2945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2020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7FE4F-BE1E-4624-B2A0-4A6047A2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Canonical 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4E3C7-9F01-4628-B961-6113BF23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657ED-4607-40B4-92AC-61F3CB1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CB8BE-880D-4742-96B7-FF8BDDE9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9B2F3-9DB2-4A08-9820-98417827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EvidenceChunk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6B4DF3-51B3-4A1F-BD5A-F30A2653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70B87-16BD-4B02-8B56-C36E745D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70F47-0AB0-4F5B-9F58-A362583E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05388-6DC7-4769-ACFF-30F0D6B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Citation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D9041-717C-4E55-84D8-BE570549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8F8CF3-75C8-4241-BBC0-FAC80F55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VerificationResult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F2459D-C92B-4A96-8B0B-199B431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5B1B2-B2CC-4620-AC6D-22C4D79F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ReviewTask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FDCAA-8B19-46F6-B35C-828D3ED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A06756-E8F7-4E89-B574-AB6A467E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AuditEvent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652187-2E46-4F1A-8DF5-ABCE7F9B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1C18B-2A89-4978-BEC6-DB9340BB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ExperimentConfig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134FD1-22AC-44EA-8573-E4748642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3251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4A3E1E-2260-477F-8FBE-1A0DB803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Every state transition writes an AuditEvent with object IDs, model and prompt versions, timestamps, and decision metadata.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FF6CF8-05AD-467A-955B-5BB8A1CD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5119A7-E1F0-46F6-910C-EDD6265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7314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B598D-53D6-4B17-AC2D-05E520E8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98C97-0512-4448-8883-5610EE53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EXPERIMENT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B4BEC-F697-4927-9A50-8E1BBBB4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22098-213B-4B6D-BFA0-69F26FAE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620A1-3738-4965-B782-0CF12843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99405-5E7C-480D-B0BC-C85AE882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8C137-3906-48F7-82A7-B04048E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Direct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95629-AD01-4253-8CC2-7AAF23B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Question only. No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A2879-DCFD-4C82-BBCD-3B5A137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757D6-B36F-4F97-9171-F7ED5663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F3FD1-51A1-4219-BAF4-6785E19F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Single-agent 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68825-5A94-44E2-B964-65A6207D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Retrieval plus one drafting call.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15AFD-BD1E-4AF5-94CF-20114F5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5D33C-33C4-47A4-BDDA-E02D86A3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2CE83-EAB3-4B82-931F-978D967D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RAG +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1BC3A-E321-4EB9-B90D-FA4CD45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Independent check, without routing logic.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EBBE2-D9CF-4A7A-BDE7-A390892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14288">
            <a:solidFill>
              <a:srgbClr val="315E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84BB9-73ED-43BA-8712-80CCC67A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76B1C-C762-45A5-8630-4CE09146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Trustilo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01B59-E79E-4067-9B2B-7F062013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Full pipeline with escalation and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FC05E-CB1A-4C08-9DA7-E66A7DDA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Fair comparison protocol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78612-086E-47B2-AA81-6B5E260D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325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Use the same frozen held-out questions and scoring rubric for B0, B1, B2, and P.</a:t>
            </a:r>
          </a:p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Tune prompts and thresholds only on the development split.</a:t>
            </a:r>
          </a:p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Inject hard negatives: missing evidence, contradictory versions, and stale evidence.</a:t>
            </a:r>
          </a:p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Tag each failure with one primary cause, such as retrieval miss or verifier false negative.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3516D-6F95-45DB-9562-3BC91982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69B84-54B6-407E-8F7A-8ACD9499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8353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C68750-4E42-4B13-AE2C-D580A0F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 metrics and acceptance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395D1-7678-4515-820B-99741EA9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SUCCESS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21F50-386D-443F-A70B-320B5105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2FF16-4BC5-4A97-9C27-E28E373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1C00C-48E3-4E25-BAE8-C2E64AAA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CDD04-7206-4DC2-BC3B-5359577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33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PROPOSED TARGETS — NOT YET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29DC8-97D1-494B-81DC-2292DD9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81F0E-936F-4208-8837-6E155FB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36F90-F15C-48A7-858E-383B1347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81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CC544-005E-4558-B15A-2C4EBAD9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E3BBE-526F-4BA0-8774-D7B9E119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9E11B-B4FD-4408-8702-0DF65754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 extraction correctness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D6D24-B880-4E6A-910B-7DCADC6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28114-3F07-4E77-8A71-B5766B7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D5ED5-9E67-4C9F-B637-38261E67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66BF5-25C8-489E-BEE5-B829277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Evidence Recall@10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ECE0F-94A0-41E2-A8C8-C229ECD7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B7F10-373D-4358-96B0-A8BBACCC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64336-99D0-4A43-8104-0C7C805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Groundedness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1D60A-85A5-4FC0-940B-DA1DDA6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Claim-support precision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0A81C-86B3-49A0-9CAD-4D7BFE48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A3067-56C5-43F8-957C-7DA02EF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F6746-3718-4794-B7AA-66C14E57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56FD4-067F-4C0C-9484-AEA83FA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Injected issue detection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1764E-FCA1-4818-9F2A-2F0583E8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D66C43-456D-401A-B21F-1934F5D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5F3E05-583B-4990-8E93-1FFB2949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Escalation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C32305-7E21-4F88-8B52-38EB4D2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Needs-review recall / pilot precision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2D9A3-ECAC-4B5F-BD02-55330E86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90% / ≥ 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0562F-40BF-4380-A4A1-3DAA76AC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41864-074C-4089-810C-6226B47E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78076-5E49-48CD-8760-D92C9B1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Cross-tenant retrievals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E6A7F-027C-441F-AFD7-4FCE12CE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29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6B487D-68AE-4B84-8527-76E67090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4E12F-543C-4B1D-B731-03A3D84A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0BC46C-0851-4B1F-B96A-283B0F80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Finalized answers with full lineage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1C98C4-F750-4DDF-8F54-CE1DCA9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86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A7907-CDAD-46FA-B283-F4F89622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BEA424-E9C6-42EF-B57F-F90B37B7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3652DD-891B-41D0-A748-8A0A21A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100-question run, excluding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302222-94C9-48BF-97BA-434D9149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43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&lt; 15 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2CB3D-BA66-4EBB-88A5-F9A81CDF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8647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Also report MRR, unsupported-claim rate, calibration, cost per question, and reviewer time.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8A7EE6-1E82-44A8-A824-9C53B52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2EA1AD-A693-4BF0-8944-C42509A8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18679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716B9-99B6-4910-B718-59E4D5B4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Business perspective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C10A1-6D51-4519-AB25-DBB35473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COMMERCIAL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25EE1-5775-4173-B759-213F9C96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C125B-BFE4-4538-B946-0A3668EB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42966-A4E7-4E99-91A3-A461A42F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Target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C7A9B-7A95-475E-B2B1-9472EB2A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Security and GRC teams that answer repeated customer or vendor questionnaires.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5F5F3-AF36-46C7-A16A-F37AA08F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Value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29C7A-FB35-4790-8DED-D25FEDC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Reduce expert time spent searching and drafting routine answers.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Shorten questionnaire turnaround while preserving evidence traceability.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Reuse approved answers without silently reusing stale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58F75-8533-46E8-A762-F056DC6E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811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AD2C0-6B9E-4281-B904-002F4C55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Adoption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14EA1-C270-4DED-A4B6-1EB351C2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90725"/>
            <a:ext cx="4476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Begin with an assisted pilot. A human remains the final authority.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Measure time saved, review rate, groundedness, and cost per question.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Expand only after the team meets the safety targets on real pilot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71A85-BD6D-4708-9679-E8E97C85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Commercial model to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FB7C8-140A-4DF1-B8FC-F1C658B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B2B software priced by workspace or questionnaire volume. Main costs are model calls, storage, and reviewer time. Pricing remains a hypothesis until pilot discovery.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0A4B5-EDF5-494E-A0DB-C8A4F80C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02679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2B91A-3814-490F-9188-8719BACD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992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Business proof: fewer reviewer minutes per question at the required claim-support precision.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3E140-B922-459E-9489-AD0FFD0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686FF-EBA5-415B-AE12-B3732E6B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844051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FB109B-A414-4526-B942-1DC3059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24-week implementation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477C9-67D9-4017-9C2F-7F4FFF2C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DELIVERY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BE5C8-00ED-4880-B6DB-643FE8F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51518-C662-4DD5-8969-386C838A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148C8-4A01-4031-8414-458CDA29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DDA3A-AF9B-4199-8231-496245E6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W1–4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22294-C040-404D-815E-616EB759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335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Requirements and literature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D2E8E-D243-47F9-BBE9-048A234B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335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Research question, schemas, benchmark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C9B00-8EE0-4C3F-BF49-885F4E5B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F63B5-62C6-41BB-AD84-5EAD1400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EEF82-5610-438E-A6B6-00B1EF6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W5–8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A24A2-9F1E-4717-98BA-74C517C9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574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Data and baselines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3197B-87DF-48FE-A688-84ADBB18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574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Synthetic evidence, B0 and B1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61DBE-C156-4CF6-977E-AD5C5733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241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FA0F9-2F5B-481B-A7B9-C42E9022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738B9-A0BC-4AC4-A49E-4AEA2A38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W9–12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0BCC4-A511-4B74-979F-EB4020BA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Retrieval and drafting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F334E-E691-4817-A08D-AF73E785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813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Hybrid search, reranking, citations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C9680-6D05-46C6-8262-0F2D6837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48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89AC7-2C6E-49D6-8735-2570E014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B59CE-AF24-4765-858F-B0E8CBF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W13–16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ED37E-A06D-41BC-80DE-F15308B8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052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BF39A-54FB-4007-A483-906301E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052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Support checks and one retrieval retry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22B42-B768-43B4-9CE8-FDBFE26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A0CC3-87D8-4EFF-B519-F68502F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42B98-AA1E-4F14-A8BC-B5A7B3B2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W17–20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EDD7BC-4CD8-4F4B-B02A-770DD609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291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DC744-F189-422E-8C05-CA8DCA26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291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Escalation, console, end-to-end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55D7F-E64C-44C3-902F-A0FB3880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95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FE57A-45B8-4AEB-80A0-BB9B21DB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D9FC8C-40DC-4BC5-A59B-ABCF0F0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W21–24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171BE1-2022-4189-A603-C4D8AEF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530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D43F9-896F-4939-A815-DDCDC5B6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530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Ablations, held-out test, SME pilot, report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A8AEEA-2377-4B54-A054-E82FFA1D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248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FB6041-ABD7-44AE-9712-E05C1979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48375"/>
            <a:ext cx="994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Decision gate at week 20: proceed to final evaluation only after the end-to-end evidence and review path works.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F51652-6C0C-449E-848A-25815F3B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10312E-A044-4FD6-9CC4-CEBC386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684571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ED3A2-3576-4990-ACC3-B92E9D34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714A9-AA3B-41DB-BAF6-239FD34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153C8-0BA6-42DA-BA11-86222F02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CCEB5-80D9-4FC3-B0D5-4586DAE3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75BDC-AAFA-4E68-8ACB-50232B74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B1A6F-B9D1-42EC-8184-16264D6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Reproducible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51025-A9C1-4953-BE07-333BB5AA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Public questionnaire prompts, synthetic versioned evidence, and SME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D6E7E-3D09-4F67-B20F-E791CF66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71DA0-E669-4974-9E0B-0CA4967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4A12E-0F39-4B53-A57E-7EE551D1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Working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57EF4-478F-41CE-B9D1-A2392C7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 complete retrieve, draft, verify, escalate, and review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F3104-3585-441C-9874-E9E9FC6F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0F7B6-2D4F-4694-8A09-7605C8AA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4AC24-16ED-46CE-881D-1B12E54D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Evidence from experiments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1C252-363D-49E5-A3A9-A4B8B7A6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Baselines and ablations that show which controls improve the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4AE8E-FD32-4807-A5FB-E41EF2A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E8E02-7FC6-4B3D-8812-A3F89730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2B7E0-425A-45E0-8E2D-EC414AE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Auditable human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8CA01-3681-475D-A50C-DD3A3845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338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Reviewer decisions, approved edits, and reconstructable answer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1B270-05A5-4407-9C3F-F219BDDB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BD6A4-87C2-4194-817A-18FA0662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4584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C3AAF-7400-404B-9EBB-9FD86F18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988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Trustilo succeeds only if it reduces review effort without weakening evidence faithfulness.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18E15-BD29-4948-98B8-A8900361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CC185-BCDF-4AC3-AB77-3E4CDC8A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8C9DD-89DD-4F65-A49C-CBE27EF5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2405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2026-09-04T16:33:58.2170000Z</dcterms:created>
  <dcterms:modified xsi:type="dcterms:W3CDTF">2026-09-04T16:33:58.2170000Z</dcterms:modified>
</coreProperties>
</file>